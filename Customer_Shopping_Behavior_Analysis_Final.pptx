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3488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analyzes 3,900 purchases to understand who buys, what they buy, how they pay, and how subscriptions and discounts behave. I used Python for preparation, PostgreSQL for the analysis and Power BI for the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holds 3,900 purchases across 18 columns. Three headline numbers: 3.9K customers, an average purchase of $59.76 and an average review rating of 3.75. The columns fall into demographics, purchase details and shopping behavior.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First, load and explore the data in pandas. Second, check for nulls and fill gaps with each category’s median rating, and standardize column names. Third, engineer an age group column and a purchase frequency column. Fourth, load everything into PostgreSQL to answer nine business questions. The results are shown in Power BI.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Male customers generated $157,890, about 68% of total revenue, against $75,191 from female customers. That is roughly double, but it mostly mirrors the customer base, since about 68% of customers are male.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revenue by age group, highest to lowest: Young Adults $62,143, Middle Aged $59,197, Adult $55,978 and Seniors $55,763. The bars are drawn from zero, so the small gaps you see are the real gaps.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PayPal was used most often, 677 times, while credit card earned the most revenue at $40,310 from 671 uses. Cash, debit card and Venmo follow, and bank transfer was last on both measures. The spread is small.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1,053 customers, 27%, are subscribers, and they generated $62,645. The 2,847 non-subscribers generated $170,436. Average spend is $59.49 versus $59.87, so right now a subscription does not change how much people spend.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3,476 customers with more than five previous purchases, 958 subscribe, about 27.6%. That is only slightly above the overall rate, and 72% of repeat buyers have not subscribed yet, which is a clear conversion opportunity.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dataset, 1,677 of 3,900 purchases, about 43%, used a discount. Five items stand out: Hat at 50.00%, Sneakers 49.66%, Coat 49.07%, Sweater 48.17% and Pants 47.37%. Nearly half of their sales depend on a discount.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are balanced across all seven purchase frequency levels, and discounts follow the same pattern, so no frequency group drives discount usage. That means discounts are not rewarding any particular behavior. Also, 839 customers used a discount and still spent above the average.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product ratings. The five highest-rated products are Gloves at 3.86, Sandals at 3.84, Boots and Hat at 3.81, and T-shirt at 3.78. The whole spread is only 0.08, so customers rate these products consistently well. No single product is a standout.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on subscriptions and discounts. One, give subscribers a reason to spend more with early access, free shipping or members-only pricing. Two, go after repeat buyers first, since 72% of them are not subscribed. Three, review the discount policy: 43% of purchases are discounted with no link to behavior, so test whether the 839 high spenders would pay full price, and reduce discounts on Hat, Sneakers, Coat, Sweater and Pants. Four, aim discounts at occasional buyers and use non-price rewards for frequent buyers.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recommendations on reaching the right customers. Feature the top-rated products together as a group and use their ratings as social proof. Tailor campaigns to Young Adults, who lead revenue at $62,143, while keeping broad appeal because all age groups are within about 3 points. And engage female customers: they bring 32% of revenue because they are a smaller share of the customer base, which makes them the biggest growth opportunity.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growth opportunities are in three places: converting customers into subscribers, using discounts with a purpose, and widening the audience beyond the current male-heavy base.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7171C"/>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1"/>
            <a:ext cx="10566400" cy="4109719"/>
          </a:xfrm>
          <a:prstGeom prst="rect">
            <a:avLst/>
          </a:prstGeom>
          <a:noFill/>
          <a:ln/>
        </p:spPr>
        <p:txBody>
          <a:bodyPr wrap="square" lIns="0" tIns="0" rIns="0" bIns="0" rtlCol="0" anchor="t"/>
          <a:lstStyle>
            <a:lvl1pPr marL="0" indent="0" algn="l">
              <a:lnSpc>
                <a:spcPct val="140000"/>
              </a:lnSpc>
              <a:buNone/>
              <a:defRPr lang="en-US" sz="1600" dirty="0">
                <a:solidFill>
                  <a:srgbClr val="17171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7171C"/>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1"/>
            <a:ext cx="10566400" cy="4109719"/>
          </a:xfrm>
          <a:prstGeom prst="rect">
            <a:avLst/>
          </a:prstGeom>
          <a:noFill/>
          <a:ln/>
        </p:spPr>
        <p:txBody>
          <a:bodyPr wrap="square" lIns="0" tIns="0" rIns="0" bIns="0" rtlCol="0" anchor="t"/>
          <a:lstStyle>
            <a:lvl1pPr marL="0" indent="0" algn="l">
              <a:lnSpc>
                <a:spcPct val="140000"/>
              </a:lnSpc>
              <a:buNone/>
              <a:defRPr lang="en-US" sz="1600" dirty="0">
                <a:solidFill>
                  <a:srgbClr val="17171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C"/>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7823200" y="2489200"/>
            <a:ext cx="3556000" cy="3556000"/>
          </a:xfrm>
          <a:prstGeom prst="rect">
            <a:avLst/>
          </a:prstGeom>
        </p:spPr>
      </p:pic>
      <p:pic>
        <p:nvPicPr>
          <p:cNvPr id="3" name="Image 1" descr="ellipse"/>
          <p:cNvPicPr>
            <a:picLocks noChangeAspect="1"/>
          </p:cNvPicPr>
          <p:nvPr/>
        </p:nvPicPr>
        <p:blipFill>
          <a:blip r:embed="rId4"/>
          <a:srcRect/>
          <a:stretch/>
        </p:blipFill>
        <p:spPr>
          <a:xfrm>
            <a:off x="7061200" y="4521200"/>
            <a:ext cx="1524000" cy="1524000"/>
          </a:xfrm>
          <a:prstGeom prst="rect">
            <a:avLst/>
          </a:prstGeom>
        </p:spPr>
      </p:pic>
      <p:sp>
        <p:nvSpPr>
          <p:cNvPr id="4" name="Text 0"/>
          <p:cNvSpPr/>
          <p:nvPr/>
        </p:nvSpPr>
        <p:spPr>
          <a:xfrm>
            <a:off x="812800" y="812800"/>
            <a:ext cx="2448957" cy="340360"/>
          </a:xfrm>
          <a:prstGeom prst="roundRect">
            <a:avLst>
              <a:gd name="adj" fmla="val 50000"/>
            </a:avLst>
          </a:prstGeom>
          <a:solidFill>
            <a:srgbClr val="FF7A45"/>
          </a:solidFill>
          <a:ln/>
        </p:spPr>
        <p:txBody>
          <a:bodyPr wrap="none" lIns="0" tIns="0" rIns="0" bIns="0" rtlCol="0" anchor="ctr">
            <a:normAutofit/>
          </a:bodyPr>
          <a:lstStyle/>
          <a:p>
            <a:pPr marL="0" indent="0" algn="ctr">
              <a:lnSpc>
                <a:spcPts val="1680"/>
              </a:lnSpc>
              <a:buNone/>
            </a:pPr>
            <a:r>
              <a:rPr lang="en-US" sz="1200" b="1" kern="0" spc="100" dirty="0">
                <a:solidFill>
                  <a:srgbClr val="17171C"/>
                </a:solidFill>
                <a:latin typeface="DM Sans" pitchFamily="34" charset="0"/>
                <a:ea typeface="DM Sans" pitchFamily="34" charset="-122"/>
                <a:cs typeface="DM Sans" pitchFamily="34" charset="-120"/>
              </a:rPr>
              <a:t>DATA ANALYSIS PROJECT</a:t>
            </a:r>
            <a:endParaRPr lang="en-US" sz="1200" dirty="0"/>
          </a:p>
        </p:txBody>
      </p:sp>
      <p:sp>
        <p:nvSpPr>
          <p:cNvPr id="5" name="Text 1"/>
          <p:cNvSpPr>
            <a:spLocks noGrp="1"/>
          </p:cNvSpPr>
          <p:nvPr>
            <p:ph type="title"/>
          </p:nvPr>
        </p:nvSpPr>
        <p:spPr>
          <a:xfrm>
            <a:off x="812800" y="2435860"/>
            <a:ext cx="6540500" cy="13665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3EE"/>
                </a:solidFill>
                <a:latin typeface="DM Sans" pitchFamily="34" charset="0"/>
                <a:ea typeface="DM Sans" pitchFamily="34" charset="-122"/>
                <a:cs typeface="DM Sans" pitchFamily="34" charset="-120"/>
              </a:rPr>
              <a:t>Customer Shopping Behavior Analysis</a:t>
            </a:r>
            <a:endParaRPr lang="en-US" sz="4800" dirty="0"/>
          </a:p>
        </p:txBody>
      </p:sp>
      <p:sp>
        <p:nvSpPr>
          <p:cNvPr id="6" name="Text 2"/>
          <p:cNvSpPr/>
          <p:nvPr/>
        </p:nvSpPr>
        <p:spPr>
          <a:xfrm>
            <a:off x="812800" y="3980180"/>
            <a:ext cx="58864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8C4"/>
                </a:solidFill>
                <a:latin typeface="DM Sans" pitchFamily="34" charset="0"/>
                <a:ea typeface="DM Sans" pitchFamily="34" charset="-122"/>
                <a:cs typeface="DM Sans" pitchFamily="34" charset="-120"/>
              </a:rPr>
              <a:t>Spending patterns, customer segments, product preferences and subscription behavior</a:t>
            </a:r>
            <a:endParaRPr lang="en-US" sz="1600" dirty="0"/>
          </a:p>
        </p:txBody>
      </p:sp>
      <p:sp>
        <p:nvSpPr>
          <p:cNvPr id="7" name="Text 3"/>
          <p:cNvSpPr/>
          <p:nvPr/>
        </p:nvSpPr>
        <p:spPr>
          <a:xfrm>
            <a:off x="812800" y="5831840"/>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8C4"/>
                </a:solidFill>
                <a:latin typeface="DM Sans" pitchFamily="34" charset="0"/>
                <a:ea typeface="DM Sans" pitchFamily="34" charset="-122"/>
                <a:cs typeface="DM Sans" pitchFamily="34" charset="-120"/>
              </a:rPr>
              <a:t>Python · PostgreSQL · Power BI  </a:t>
            </a:r>
          </a:p>
          <a:p>
            <a:pPr marL="0" indent="0" algn="l">
              <a:lnSpc>
                <a:spcPts val="1680"/>
              </a:lnSpc>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4BFF"/>
                </a:solidFill>
                <a:latin typeface="DM Sans" pitchFamily="34" charset="0"/>
                <a:ea typeface="DM Sans" pitchFamily="34" charset="-122"/>
                <a:cs typeface="DM Sans" pitchFamily="34" charset="-120"/>
              </a:rPr>
              <a:t>OVERVIEW</a:t>
            </a:r>
            <a:endParaRPr lang="en-US" sz="1200" dirty="0"/>
          </a:p>
        </p:txBody>
      </p:sp>
      <p:sp>
        <p:nvSpPr>
          <p:cNvPr id="3" name="Text 1"/>
          <p:cNvSpPr>
            <a:spLocks noGrp="1"/>
          </p:cNvSpPr>
          <p:nvPr>
            <p:ph type="title"/>
          </p:nvPr>
        </p:nvSpPr>
        <p:spPr>
          <a:xfrm>
            <a:off x="812800" y="11277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171C"/>
                </a:solidFill>
                <a:latin typeface="DM Sans" pitchFamily="34" charset="0"/>
                <a:ea typeface="DM Sans" pitchFamily="34" charset="-122"/>
                <a:cs typeface="DM Sans" pitchFamily="34" charset="-120"/>
              </a:rPr>
              <a:t>The data at a glance</a:t>
            </a:r>
            <a:endParaRPr lang="en-US" sz="3600" dirty="0"/>
          </a:p>
        </p:txBody>
      </p:sp>
      <p:sp>
        <p:nvSpPr>
          <p:cNvPr id="4" name="Shape 2"/>
          <p:cNvSpPr/>
          <p:nvPr/>
        </p:nvSpPr>
        <p:spPr>
          <a:xfrm>
            <a:off x="815975" y="1887855"/>
            <a:ext cx="3380264" cy="1482090"/>
          </a:xfrm>
          <a:prstGeom prst="roundRect">
            <a:avLst>
              <a:gd name="adj" fmla="val 10069"/>
            </a:avLst>
          </a:prstGeom>
          <a:solidFill>
            <a:srgbClr val="FBFAF7"/>
          </a:solidFill>
          <a:ln w="6350">
            <a:solidFill>
              <a:srgbClr val="E4E1D8"/>
            </a:solidFill>
            <a:prstDash val="solid"/>
          </a:ln>
        </p:spPr>
        <p:txBody>
          <a:bodyPr/>
          <a:lstStyle/>
          <a:p>
            <a:endParaRPr lang="en-US"/>
          </a:p>
        </p:txBody>
      </p:sp>
      <p:sp>
        <p:nvSpPr>
          <p:cNvPr id="5" name="Text 3"/>
          <p:cNvSpPr/>
          <p:nvPr/>
        </p:nvSpPr>
        <p:spPr>
          <a:xfrm>
            <a:off x="1071880" y="2143760"/>
            <a:ext cx="2954507"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5B4BFF"/>
                </a:solidFill>
                <a:latin typeface="DM Sans" pitchFamily="34" charset="0"/>
                <a:ea typeface="DM Sans" pitchFamily="34" charset="-122"/>
                <a:cs typeface="DM Sans" pitchFamily="34" charset="-120"/>
              </a:rPr>
              <a:t>3.9K</a:t>
            </a:r>
            <a:endParaRPr lang="en-US" sz="4800" dirty="0"/>
          </a:p>
        </p:txBody>
      </p:sp>
      <p:sp>
        <p:nvSpPr>
          <p:cNvPr id="6" name="Text 4"/>
          <p:cNvSpPr/>
          <p:nvPr/>
        </p:nvSpPr>
        <p:spPr>
          <a:xfrm>
            <a:off x="1071880" y="2829560"/>
            <a:ext cx="2954507"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Customers</a:t>
            </a:r>
            <a:endParaRPr lang="en-US" sz="1600" dirty="0"/>
          </a:p>
        </p:txBody>
      </p:sp>
      <p:sp>
        <p:nvSpPr>
          <p:cNvPr id="7" name="Shape 5"/>
          <p:cNvSpPr/>
          <p:nvPr/>
        </p:nvSpPr>
        <p:spPr>
          <a:xfrm>
            <a:off x="4405789" y="1887855"/>
            <a:ext cx="3380343" cy="1482090"/>
          </a:xfrm>
          <a:prstGeom prst="roundRect">
            <a:avLst>
              <a:gd name="adj" fmla="val 10069"/>
            </a:avLst>
          </a:prstGeom>
          <a:solidFill>
            <a:srgbClr val="FBFAF7"/>
          </a:solidFill>
          <a:ln w="6350">
            <a:solidFill>
              <a:srgbClr val="E4E1D8"/>
            </a:solidFill>
            <a:prstDash val="solid"/>
          </a:ln>
        </p:spPr>
        <p:txBody>
          <a:bodyPr/>
          <a:lstStyle/>
          <a:p>
            <a:endParaRPr lang="en-US"/>
          </a:p>
        </p:txBody>
      </p:sp>
      <p:sp>
        <p:nvSpPr>
          <p:cNvPr id="8" name="Text 6"/>
          <p:cNvSpPr/>
          <p:nvPr/>
        </p:nvSpPr>
        <p:spPr>
          <a:xfrm>
            <a:off x="4661694" y="2143760"/>
            <a:ext cx="2954589"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5B4BFF"/>
                </a:solidFill>
                <a:latin typeface="DM Sans" pitchFamily="34" charset="0"/>
                <a:ea typeface="DM Sans" pitchFamily="34" charset="-122"/>
                <a:cs typeface="DM Sans" pitchFamily="34" charset="-120"/>
              </a:rPr>
              <a:t>$59.76</a:t>
            </a:r>
            <a:endParaRPr lang="en-US" sz="4800" dirty="0"/>
          </a:p>
        </p:txBody>
      </p:sp>
      <p:sp>
        <p:nvSpPr>
          <p:cNvPr id="9" name="Text 7"/>
          <p:cNvSpPr/>
          <p:nvPr/>
        </p:nvSpPr>
        <p:spPr>
          <a:xfrm>
            <a:off x="4661694" y="2829560"/>
            <a:ext cx="2954589"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Average purchase amount</a:t>
            </a:r>
            <a:endParaRPr lang="en-US" sz="1600" dirty="0"/>
          </a:p>
        </p:txBody>
      </p:sp>
      <p:sp>
        <p:nvSpPr>
          <p:cNvPr id="10" name="Shape 8"/>
          <p:cNvSpPr/>
          <p:nvPr/>
        </p:nvSpPr>
        <p:spPr>
          <a:xfrm>
            <a:off x="7995682" y="1887855"/>
            <a:ext cx="3380343" cy="1482090"/>
          </a:xfrm>
          <a:prstGeom prst="roundRect">
            <a:avLst>
              <a:gd name="adj" fmla="val 10069"/>
            </a:avLst>
          </a:prstGeom>
          <a:solidFill>
            <a:srgbClr val="FBFAF7"/>
          </a:solidFill>
          <a:ln w="6350">
            <a:solidFill>
              <a:srgbClr val="E4E1D8"/>
            </a:solidFill>
            <a:prstDash val="solid"/>
          </a:ln>
        </p:spPr>
        <p:txBody>
          <a:bodyPr/>
          <a:lstStyle/>
          <a:p>
            <a:endParaRPr lang="en-US"/>
          </a:p>
        </p:txBody>
      </p:sp>
      <p:sp>
        <p:nvSpPr>
          <p:cNvPr id="11" name="Text 9"/>
          <p:cNvSpPr/>
          <p:nvPr/>
        </p:nvSpPr>
        <p:spPr>
          <a:xfrm>
            <a:off x="8251587" y="2143760"/>
            <a:ext cx="2954589"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5B4BFF"/>
                </a:solidFill>
                <a:latin typeface="DM Sans" pitchFamily="34" charset="0"/>
                <a:ea typeface="DM Sans" pitchFamily="34" charset="-122"/>
                <a:cs typeface="DM Sans" pitchFamily="34" charset="-120"/>
              </a:rPr>
              <a:t>3.75</a:t>
            </a:r>
            <a:endParaRPr lang="en-US" sz="4800" dirty="0"/>
          </a:p>
        </p:txBody>
      </p:sp>
      <p:sp>
        <p:nvSpPr>
          <p:cNvPr id="12" name="Text 10"/>
          <p:cNvSpPr/>
          <p:nvPr/>
        </p:nvSpPr>
        <p:spPr>
          <a:xfrm>
            <a:off x="8251587" y="2829560"/>
            <a:ext cx="2954589"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Average review rating</a:t>
            </a:r>
            <a:endParaRPr lang="en-US" sz="1600" dirty="0"/>
          </a:p>
        </p:txBody>
      </p:sp>
      <p:sp>
        <p:nvSpPr>
          <p:cNvPr id="13" name="Shape 11"/>
          <p:cNvSpPr/>
          <p:nvPr/>
        </p:nvSpPr>
        <p:spPr>
          <a:xfrm>
            <a:off x="815975" y="3630295"/>
            <a:ext cx="3380264" cy="1471930"/>
          </a:xfrm>
          <a:prstGeom prst="roundRect">
            <a:avLst>
              <a:gd name="adj" fmla="val 10138"/>
            </a:avLst>
          </a:prstGeom>
          <a:noFill/>
          <a:ln w="6350">
            <a:solidFill>
              <a:srgbClr val="CFCBC0"/>
            </a:solidFill>
            <a:prstDash val="solid"/>
          </a:ln>
        </p:spPr>
        <p:txBody>
          <a:bodyPr/>
          <a:lstStyle/>
          <a:p>
            <a:endParaRPr lang="en-US"/>
          </a:p>
        </p:txBody>
      </p:sp>
      <p:sp>
        <p:nvSpPr>
          <p:cNvPr id="14" name="Text 12"/>
          <p:cNvSpPr/>
          <p:nvPr/>
        </p:nvSpPr>
        <p:spPr>
          <a:xfrm>
            <a:off x="1071880" y="3886200"/>
            <a:ext cx="295450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71C"/>
                </a:solidFill>
                <a:latin typeface="DM Sans" pitchFamily="34" charset="0"/>
                <a:ea typeface="DM Sans" pitchFamily="34" charset="-122"/>
                <a:cs typeface="DM Sans" pitchFamily="34" charset="-120"/>
              </a:rPr>
              <a:t>Customer demographics</a:t>
            </a:r>
            <a:endParaRPr lang="en-US" sz="1600" dirty="0"/>
          </a:p>
        </p:txBody>
      </p:sp>
      <p:sp>
        <p:nvSpPr>
          <p:cNvPr id="15" name="Text 13"/>
          <p:cNvSpPr/>
          <p:nvPr/>
        </p:nvSpPr>
        <p:spPr>
          <a:xfrm>
            <a:off x="1071880" y="4206240"/>
            <a:ext cx="295450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ID, age, gender, location, subscription status</a:t>
            </a:r>
            <a:endParaRPr lang="en-US" sz="1200" dirty="0"/>
          </a:p>
        </p:txBody>
      </p:sp>
      <p:sp>
        <p:nvSpPr>
          <p:cNvPr id="16" name="Shape 14"/>
          <p:cNvSpPr/>
          <p:nvPr/>
        </p:nvSpPr>
        <p:spPr>
          <a:xfrm>
            <a:off x="4405789" y="3630295"/>
            <a:ext cx="3380343" cy="1471930"/>
          </a:xfrm>
          <a:prstGeom prst="roundRect">
            <a:avLst>
              <a:gd name="adj" fmla="val 10138"/>
            </a:avLst>
          </a:prstGeom>
          <a:noFill/>
          <a:ln w="6350">
            <a:solidFill>
              <a:srgbClr val="CFCBC0"/>
            </a:solidFill>
            <a:prstDash val="solid"/>
          </a:ln>
        </p:spPr>
        <p:txBody>
          <a:bodyPr/>
          <a:lstStyle/>
          <a:p>
            <a:endParaRPr lang="en-US"/>
          </a:p>
        </p:txBody>
      </p:sp>
      <p:sp>
        <p:nvSpPr>
          <p:cNvPr id="17" name="Text 15"/>
          <p:cNvSpPr/>
          <p:nvPr/>
        </p:nvSpPr>
        <p:spPr>
          <a:xfrm>
            <a:off x="4661694" y="3886200"/>
            <a:ext cx="29545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71C"/>
                </a:solidFill>
                <a:latin typeface="DM Sans" pitchFamily="34" charset="0"/>
                <a:ea typeface="DM Sans" pitchFamily="34" charset="-122"/>
                <a:cs typeface="DM Sans" pitchFamily="34" charset="-120"/>
              </a:rPr>
              <a:t>Purchase details</a:t>
            </a:r>
            <a:endParaRPr lang="en-US" sz="1600" dirty="0"/>
          </a:p>
        </p:txBody>
      </p:sp>
      <p:sp>
        <p:nvSpPr>
          <p:cNvPr id="18" name="Text 16"/>
          <p:cNvSpPr/>
          <p:nvPr/>
        </p:nvSpPr>
        <p:spPr>
          <a:xfrm>
            <a:off x="4661694" y="4206240"/>
            <a:ext cx="295458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Item, category, purchase amount, season, size, color</a:t>
            </a:r>
            <a:endParaRPr lang="en-US" sz="1200" dirty="0"/>
          </a:p>
        </p:txBody>
      </p:sp>
      <p:sp>
        <p:nvSpPr>
          <p:cNvPr id="19" name="Shape 17"/>
          <p:cNvSpPr/>
          <p:nvPr/>
        </p:nvSpPr>
        <p:spPr>
          <a:xfrm>
            <a:off x="7995682" y="3630295"/>
            <a:ext cx="3380343" cy="1471930"/>
          </a:xfrm>
          <a:prstGeom prst="roundRect">
            <a:avLst>
              <a:gd name="adj" fmla="val 10138"/>
            </a:avLst>
          </a:prstGeom>
          <a:noFill/>
          <a:ln w="6350">
            <a:solidFill>
              <a:srgbClr val="CFCBC0"/>
            </a:solidFill>
            <a:prstDash val="solid"/>
          </a:ln>
        </p:spPr>
        <p:txBody>
          <a:bodyPr/>
          <a:lstStyle/>
          <a:p>
            <a:endParaRPr lang="en-US"/>
          </a:p>
        </p:txBody>
      </p:sp>
      <p:sp>
        <p:nvSpPr>
          <p:cNvPr id="20" name="Text 18"/>
          <p:cNvSpPr/>
          <p:nvPr/>
        </p:nvSpPr>
        <p:spPr>
          <a:xfrm>
            <a:off x="8251587" y="3886200"/>
            <a:ext cx="29545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71C"/>
                </a:solidFill>
                <a:latin typeface="DM Sans" pitchFamily="34" charset="0"/>
                <a:ea typeface="DM Sans" pitchFamily="34" charset="-122"/>
                <a:cs typeface="DM Sans" pitchFamily="34" charset="-120"/>
              </a:rPr>
              <a:t>Shopping behavior</a:t>
            </a:r>
            <a:endParaRPr lang="en-US" sz="1600" dirty="0"/>
          </a:p>
        </p:txBody>
      </p:sp>
      <p:sp>
        <p:nvSpPr>
          <p:cNvPr id="21" name="Text 19"/>
          <p:cNvSpPr/>
          <p:nvPr/>
        </p:nvSpPr>
        <p:spPr>
          <a:xfrm>
            <a:off x="8251587" y="4206240"/>
            <a:ext cx="2954589"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Discount applied, previous purchases, purchase frequency, review rating, payment method</a:t>
            </a:r>
            <a:endParaRPr lang="en-US" sz="1200" dirty="0"/>
          </a:p>
        </p:txBody>
      </p:sp>
      <p:sp>
        <p:nvSpPr>
          <p:cNvPr id="23" name="Text 21"/>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B76"/>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4BFF"/>
                </a:solidFill>
                <a:latin typeface="DM Sans" pitchFamily="34" charset="0"/>
                <a:ea typeface="DM Sans" pitchFamily="34" charset="-122"/>
                <a:cs typeface="DM Sans" pitchFamily="34" charset="-120"/>
              </a:rPr>
              <a:t>METHOD</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171C"/>
                </a:solidFill>
                <a:latin typeface="DM Sans" pitchFamily="34" charset="0"/>
                <a:ea typeface="DM Sans" pitchFamily="34" charset="-122"/>
                <a:cs typeface="DM Sans" pitchFamily="34" charset="-120"/>
              </a:rPr>
              <a:t>From raw data to SQL answers</a:t>
            </a:r>
            <a:endParaRPr lang="en-US" sz="3600" dirty="0"/>
          </a:p>
        </p:txBody>
      </p:sp>
      <p:sp>
        <p:nvSpPr>
          <p:cNvPr id="4" name="Shape 2"/>
          <p:cNvSpPr/>
          <p:nvPr/>
        </p:nvSpPr>
        <p:spPr>
          <a:xfrm>
            <a:off x="815975" y="1887855"/>
            <a:ext cx="2520950" cy="2188210"/>
          </a:xfrm>
          <a:prstGeom prst="roundRect">
            <a:avLst>
              <a:gd name="adj" fmla="val 6820"/>
            </a:avLst>
          </a:prstGeom>
          <a:solidFill>
            <a:srgbClr val="FBFAF7"/>
          </a:solidFill>
          <a:ln w="6350">
            <a:solidFill>
              <a:srgbClr val="E4E1D8"/>
            </a:solidFill>
            <a:prstDash val="solid"/>
          </a:ln>
        </p:spPr>
        <p:txBody>
          <a:bodyPr/>
          <a:lstStyle/>
          <a:p>
            <a:endParaRPr lang="en-US"/>
          </a:p>
        </p:txBody>
      </p:sp>
      <p:sp>
        <p:nvSpPr>
          <p:cNvPr id="5" name="Text 3"/>
          <p:cNvSpPr/>
          <p:nvPr/>
        </p:nvSpPr>
        <p:spPr>
          <a:xfrm>
            <a:off x="1071880" y="2143761"/>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4BFF"/>
                </a:solidFill>
                <a:latin typeface="DM Sans" pitchFamily="34" charset="0"/>
                <a:ea typeface="DM Sans" pitchFamily="34" charset="-122"/>
                <a:cs typeface="DM Sans" pitchFamily="34" charset="-120"/>
              </a:rPr>
              <a:t>01</a:t>
            </a:r>
            <a:endParaRPr lang="en-US" sz="1200" dirty="0"/>
          </a:p>
        </p:txBody>
      </p:sp>
      <p:sp>
        <p:nvSpPr>
          <p:cNvPr id="6" name="Text 4"/>
          <p:cNvSpPr/>
          <p:nvPr/>
        </p:nvSpPr>
        <p:spPr>
          <a:xfrm>
            <a:off x="1071880" y="2433320"/>
            <a:ext cx="206941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71C"/>
                </a:solidFill>
                <a:latin typeface="DM Sans" pitchFamily="34" charset="0"/>
                <a:ea typeface="DM Sans" pitchFamily="34" charset="-122"/>
                <a:cs typeface="DM Sans" pitchFamily="34" charset="-120"/>
              </a:rPr>
              <a:t>Prepare</a:t>
            </a:r>
            <a:endParaRPr lang="en-US" sz="1600" dirty="0"/>
          </a:p>
        </p:txBody>
      </p:sp>
      <p:sp>
        <p:nvSpPr>
          <p:cNvPr id="7" name="Text 5"/>
          <p:cNvSpPr/>
          <p:nvPr/>
        </p:nvSpPr>
        <p:spPr>
          <a:xfrm>
            <a:off x="1071880" y="2753361"/>
            <a:ext cx="2069414"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Loaded the dataset with pandas and reviewed its structure and summary statistics.</a:t>
            </a:r>
            <a:endParaRPr lang="en-US" sz="1200" dirty="0"/>
          </a:p>
        </p:txBody>
      </p:sp>
      <p:sp>
        <p:nvSpPr>
          <p:cNvPr id="8" name="Shape 6"/>
          <p:cNvSpPr/>
          <p:nvPr/>
        </p:nvSpPr>
        <p:spPr>
          <a:xfrm>
            <a:off x="3495675" y="1887855"/>
            <a:ext cx="2520950" cy="2188210"/>
          </a:xfrm>
          <a:prstGeom prst="roundRect">
            <a:avLst>
              <a:gd name="adj" fmla="val 6820"/>
            </a:avLst>
          </a:prstGeom>
          <a:solidFill>
            <a:srgbClr val="FBFAF7"/>
          </a:solidFill>
          <a:ln w="6350">
            <a:solidFill>
              <a:srgbClr val="E4E1D8"/>
            </a:solidFill>
            <a:prstDash val="solid"/>
          </a:ln>
        </p:spPr>
        <p:txBody>
          <a:bodyPr/>
          <a:lstStyle/>
          <a:p>
            <a:endParaRPr lang="en-US"/>
          </a:p>
        </p:txBody>
      </p:sp>
      <p:sp>
        <p:nvSpPr>
          <p:cNvPr id="9" name="Text 7"/>
          <p:cNvSpPr/>
          <p:nvPr/>
        </p:nvSpPr>
        <p:spPr>
          <a:xfrm>
            <a:off x="3751580" y="2143761"/>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4BFF"/>
                </a:solidFill>
                <a:latin typeface="DM Sans" pitchFamily="34" charset="0"/>
                <a:ea typeface="DM Sans" pitchFamily="34" charset="-122"/>
                <a:cs typeface="DM Sans" pitchFamily="34" charset="-120"/>
              </a:rPr>
              <a:t>02</a:t>
            </a:r>
            <a:endParaRPr lang="en-US" sz="1200" dirty="0"/>
          </a:p>
        </p:txBody>
      </p:sp>
      <p:sp>
        <p:nvSpPr>
          <p:cNvPr id="10" name="Text 8"/>
          <p:cNvSpPr/>
          <p:nvPr/>
        </p:nvSpPr>
        <p:spPr>
          <a:xfrm>
            <a:off x="3751580" y="2433320"/>
            <a:ext cx="206941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71C"/>
                </a:solidFill>
                <a:latin typeface="DM Sans" pitchFamily="34" charset="0"/>
                <a:ea typeface="DM Sans" pitchFamily="34" charset="-122"/>
                <a:cs typeface="DM Sans" pitchFamily="34" charset="-120"/>
              </a:rPr>
              <a:t>Clean</a:t>
            </a:r>
            <a:endParaRPr lang="en-US" sz="1600" dirty="0"/>
          </a:p>
        </p:txBody>
      </p:sp>
      <p:sp>
        <p:nvSpPr>
          <p:cNvPr id="11" name="Text 9"/>
          <p:cNvSpPr/>
          <p:nvPr/>
        </p:nvSpPr>
        <p:spPr>
          <a:xfrm>
            <a:off x="3751580" y="2753361"/>
            <a:ext cx="2069414" cy="10922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Checked nulls and missing values, using each category’s median rating. Renamed columns to snake case.</a:t>
            </a:r>
            <a:endParaRPr lang="en-US" sz="1200" dirty="0"/>
          </a:p>
        </p:txBody>
      </p:sp>
      <p:sp>
        <p:nvSpPr>
          <p:cNvPr id="12" name="Shape 10"/>
          <p:cNvSpPr/>
          <p:nvPr/>
        </p:nvSpPr>
        <p:spPr>
          <a:xfrm>
            <a:off x="6175375" y="1887855"/>
            <a:ext cx="2520950" cy="2188210"/>
          </a:xfrm>
          <a:prstGeom prst="roundRect">
            <a:avLst>
              <a:gd name="adj" fmla="val 6820"/>
            </a:avLst>
          </a:prstGeom>
          <a:solidFill>
            <a:srgbClr val="FBFAF7"/>
          </a:solidFill>
          <a:ln w="6350">
            <a:solidFill>
              <a:srgbClr val="E4E1D8"/>
            </a:solidFill>
            <a:prstDash val="solid"/>
          </a:ln>
        </p:spPr>
        <p:txBody>
          <a:bodyPr/>
          <a:lstStyle/>
          <a:p>
            <a:endParaRPr lang="en-US"/>
          </a:p>
        </p:txBody>
      </p:sp>
      <p:sp>
        <p:nvSpPr>
          <p:cNvPr id="13" name="Text 11"/>
          <p:cNvSpPr/>
          <p:nvPr/>
        </p:nvSpPr>
        <p:spPr>
          <a:xfrm>
            <a:off x="6431280" y="2143761"/>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4BFF"/>
                </a:solidFill>
                <a:latin typeface="DM Sans" pitchFamily="34" charset="0"/>
                <a:ea typeface="DM Sans" pitchFamily="34" charset="-122"/>
                <a:cs typeface="DM Sans" pitchFamily="34" charset="-120"/>
              </a:rPr>
              <a:t>03</a:t>
            </a:r>
            <a:endParaRPr lang="en-US" sz="1200" dirty="0"/>
          </a:p>
        </p:txBody>
      </p:sp>
      <p:sp>
        <p:nvSpPr>
          <p:cNvPr id="14" name="Text 12"/>
          <p:cNvSpPr/>
          <p:nvPr/>
        </p:nvSpPr>
        <p:spPr>
          <a:xfrm>
            <a:off x="6431280" y="2433320"/>
            <a:ext cx="206941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71C"/>
                </a:solidFill>
                <a:latin typeface="DM Sans" pitchFamily="34" charset="0"/>
                <a:ea typeface="DM Sans" pitchFamily="34" charset="-122"/>
                <a:cs typeface="DM Sans" pitchFamily="34" charset="-120"/>
              </a:rPr>
              <a:t>Engineer</a:t>
            </a:r>
            <a:endParaRPr lang="en-US" sz="1600" dirty="0"/>
          </a:p>
        </p:txBody>
      </p:sp>
      <p:sp>
        <p:nvSpPr>
          <p:cNvPr id="15" name="Text 13"/>
          <p:cNvSpPr/>
          <p:nvPr/>
        </p:nvSpPr>
        <p:spPr>
          <a:xfrm>
            <a:off x="6431280" y="2753361"/>
            <a:ext cx="2069414"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Binned customer ages into age groups and added a purchase-frequency column in days.</a:t>
            </a:r>
            <a:endParaRPr lang="en-US" sz="1200" dirty="0"/>
          </a:p>
        </p:txBody>
      </p:sp>
      <p:sp>
        <p:nvSpPr>
          <p:cNvPr id="16" name="Shape 14"/>
          <p:cNvSpPr/>
          <p:nvPr/>
        </p:nvSpPr>
        <p:spPr>
          <a:xfrm>
            <a:off x="8855075" y="1887855"/>
            <a:ext cx="2520950" cy="2188210"/>
          </a:xfrm>
          <a:prstGeom prst="roundRect">
            <a:avLst>
              <a:gd name="adj" fmla="val 6820"/>
            </a:avLst>
          </a:prstGeom>
          <a:solidFill>
            <a:srgbClr val="FBFAF7"/>
          </a:solidFill>
          <a:ln w="6350">
            <a:solidFill>
              <a:srgbClr val="E4E1D8"/>
            </a:solidFill>
            <a:prstDash val="solid"/>
          </a:ln>
        </p:spPr>
        <p:txBody>
          <a:bodyPr/>
          <a:lstStyle/>
          <a:p>
            <a:endParaRPr lang="en-US"/>
          </a:p>
        </p:txBody>
      </p:sp>
      <p:sp>
        <p:nvSpPr>
          <p:cNvPr id="17" name="Text 15"/>
          <p:cNvSpPr/>
          <p:nvPr/>
        </p:nvSpPr>
        <p:spPr>
          <a:xfrm>
            <a:off x="9110980" y="2143761"/>
            <a:ext cx="206941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4BFF"/>
                </a:solidFill>
                <a:latin typeface="DM Sans" pitchFamily="34" charset="0"/>
                <a:ea typeface="DM Sans" pitchFamily="34" charset="-122"/>
                <a:cs typeface="DM Sans" pitchFamily="34" charset="-120"/>
              </a:rPr>
              <a:t>04</a:t>
            </a:r>
            <a:endParaRPr lang="en-US" sz="1200" dirty="0"/>
          </a:p>
        </p:txBody>
      </p:sp>
      <p:sp>
        <p:nvSpPr>
          <p:cNvPr id="18" name="Text 16"/>
          <p:cNvSpPr/>
          <p:nvPr/>
        </p:nvSpPr>
        <p:spPr>
          <a:xfrm>
            <a:off x="9110980" y="2433320"/>
            <a:ext cx="206941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171C"/>
                </a:solidFill>
                <a:latin typeface="DM Sans" pitchFamily="34" charset="0"/>
                <a:ea typeface="DM Sans" pitchFamily="34" charset="-122"/>
                <a:cs typeface="DM Sans" pitchFamily="34" charset="-120"/>
              </a:rPr>
              <a:t>Analyze</a:t>
            </a:r>
            <a:endParaRPr lang="en-US" sz="1600" dirty="0"/>
          </a:p>
        </p:txBody>
      </p:sp>
      <p:sp>
        <p:nvSpPr>
          <p:cNvPr id="19" name="Text 17"/>
          <p:cNvSpPr/>
          <p:nvPr/>
        </p:nvSpPr>
        <p:spPr>
          <a:xfrm>
            <a:off x="9110980" y="2753361"/>
            <a:ext cx="2069414"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Loaded the cleaned data into PostgreSQL and answered nine business questions with SQL.</a:t>
            </a:r>
            <a:endParaRPr lang="en-US" sz="1200" dirty="0"/>
          </a:p>
        </p:txBody>
      </p:sp>
      <p:sp>
        <p:nvSpPr>
          <p:cNvPr id="20" name="Text 18"/>
          <p:cNvSpPr/>
          <p:nvPr/>
        </p:nvSpPr>
        <p:spPr>
          <a:xfrm>
            <a:off x="812800" y="4457700"/>
            <a:ext cx="66865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6B76"/>
                </a:solidFill>
                <a:latin typeface="DM Sans" pitchFamily="34" charset="0"/>
                <a:ea typeface="DM Sans" pitchFamily="34" charset="-122"/>
                <a:cs typeface="DM Sans" pitchFamily="34" charset="-120"/>
              </a:rPr>
              <a:t>TOOLS</a:t>
            </a:r>
            <a:endParaRPr lang="en-US" sz="1200" dirty="0"/>
          </a:p>
        </p:txBody>
      </p:sp>
      <p:sp>
        <p:nvSpPr>
          <p:cNvPr id="21" name="Text 19"/>
          <p:cNvSpPr/>
          <p:nvPr/>
        </p:nvSpPr>
        <p:spPr>
          <a:xfrm>
            <a:off x="1522413" y="4333241"/>
            <a:ext cx="1975326" cy="462280"/>
          </a:xfrm>
          <a:prstGeom prst="roundRect">
            <a:avLst>
              <a:gd name="adj" fmla="val 50000"/>
            </a:avLst>
          </a:prstGeom>
          <a:solidFill>
            <a:srgbClr val="17171C"/>
          </a:solidFill>
          <a:ln/>
        </p:spPr>
        <p:txBody>
          <a:bodyPr wrap="none" lIns="0" tIns="0" rIns="0" bIns="0" rtlCol="0" anchor="ctr">
            <a:normAutofit/>
          </a:bodyPr>
          <a:lstStyle/>
          <a:p>
            <a:pPr marL="0" indent="0" algn="ctr">
              <a:lnSpc>
                <a:spcPts val="2240"/>
              </a:lnSpc>
              <a:buNone/>
            </a:pPr>
            <a:r>
              <a:rPr lang="en-US" sz="1600" b="1" dirty="0">
                <a:solidFill>
                  <a:srgbClr val="F5F3EE"/>
                </a:solidFill>
                <a:latin typeface="DM Sans" pitchFamily="34" charset="0"/>
                <a:ea typeface="DM Sans" pitchFamily="34" charset="-122"/>
                <a:cs typeface="DM Sans" pitchFamily="34" charset="-120"/>
              </a:rPr>
              <a:t>Python · pandas</a:t>
            </a:r>
            <a:endParaRPr lang="en-US" sz="1600" dirty="0"/>
          </a:p>
        </p:txBody>
      </p:sp>
      <p:sp>
        <p:nvSpPr>
          <p:cNvPr id="22" name="Text 20"/>
          <p:cNvSpPr/>
          <p:nvPr/>
        </p:nvSpPr>
        <p:spPr>
          <a:xfrm>
            <a:off x="3650139" y="4333241"/>
            <a:ext cx="1544717" cy="462280"/>
          </a:xfrm>
          <a:prstGeom prst="roundRect">
            <a:avLst>
              <a:gd name="adj" fmla="val 50000"/>
            </a:avLst>
          </a:prstGeom>
          <a:solidFill>
            <a:srgbClr val="17171C"/>
          </a:solidFill>
          <a:ln/>
        </p:spPr>
        <p:txBody>
          <a:bodyPr wrap="none" lIns="0" tIns="0" rIns="0" bIns="0" rtlCol="0" anchor="ctr">
            <a:normAutofit/>
          </a:bodyPr>
          <a:lstStyle/>
          <a:p>
            <a:pPr marL="0" indent="0" algn="ctr">
              <a:lnSpc>
                <a:spcPts val="2240"/>
              </a:lnSpc>
              <a:buNone/>
            </a:pPr>
            <a:r>
              <a:rPr lang="en-US" sz="1600" b="1" dirty="0">
                <a:solidFill>
                  <a:srgbClr val="F5F3EE"/>
                </a:solidFill>
                <a:latin typeface="DM Sans" pitchFamily="34" charset="0"/>
                <a:ea typeface="DM Sans" pitchFamily="34" charset="-122"/>
                <a:cs typeface="DM Sans" pitchFamily="34" charset="-120"/>
              </a:rPr>
              <a:t>PostgreSQL</a:t>
            </a:r>
            <a:endParaRPr lang="en-US" sz="1600" dirty="0"/>
          </a:p>
        </p:txBody>
      </p:sp>
      <p:sp>
        <p:nvSpPr>
          <p:cNvPr id="23" name="Text 21"/>
          <p:cNvSpPr/>
          <p:nvPr/>
        </p:nvSpPr>
        <p:spPr>
          <a:xfrm>
            <a:off x="5347256" y="4333241"/>
            <a:ext cx="1234519" cy="462280"/>
          </a:xfrm>
          <a:prstGeom prst="roundRect">
            <a:avLst>
              <a:gd name="adj" fmla="val 50000"/>
            </a:avLst>
          </a:prstGeom>
          <a:solidFill>
            <a:srgbClr val="17171C"/>
          </a:solidFill>
          <a:ln/>
        </p:spPr>
        <p:txBody>
          <a:bodyPr wrap="none" lIns="0" tIns="0" rIns="0" bIns="0" rtlCol="0" anchor="ctr">
            <a:normAutofit/>
          </a:bodyPr>
          <a:lstStyle/>
          <a:p>
            <a:pPr marL="0" indent="0" algn="ctr">
              <a:lnSpc>
                <a:spcPts val="2240"/>
              </a:lnSpc>
              <a:buNone/>
            </a:pPr>
            <a:r>
              <a:rPr lang="en-US" sz="1600" b="1" dirty="0">
                <a:solidFill>
                  <a:srgbClr val="F5F3EE"/>
                </a:solidFill>
                <a:latin typeface="DM Sans" pitchFamily="34" charset="0"/>
                <a:ea typeface="DM Sans" pitchFamily="34" charset="-122"/>
                <a:cs typeface="DM Sans" pitchFamily="34" charset="-120"/>
              </a:rPr>
              <a:t>Power BI</a:t>
            </a:r>
            <a:endParaRPr lang="en-US" sz="1600" dirty="0"/>
          </a:p>
        </p:txBody>
      </p:sp>
      <p:sp>
        <p:nvSpPr>
          <p:cNvPr id="25" name="Text 23"/>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B76"/>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4BFF"/>
                </a:solidFill>
                <a:latin typeface="DM Sans" pitchFamily="34" charset="0"/>
                <a:ea typeface="DM Sans" pitchFamily="34" charset="-122"/>
                <a:cs typeface="DM Sans" pitchFamily="34" charset="-120"/>
              </a:rPr>
              <a:t>WHO BUYS</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171C"/>
                </a:solidFill>
                <a:latin typeface="DM Sans" pitchFamily="34" charset="0"/>
                <a:ea typeface="DM Sans" pitchFamily="34" charset="-122"/>
                <a:cs typeface="DM Sans" pitchFamily="34" charset="-120"/>
              </a:rPr>
              <a:t>Men generate twice the revenue</a:t>
            </a:r>
            <a:endParaRPr lang="en-US" sz="3600" dirty="0"/>
          </a:p>
        </p:txBody>
      </p:sp>
      <p:sp>
        <p:nvSpPr>
          <p:cNvPr id="4" name="Text 2"/>
          <p:cNvSpPr/>
          <p:nvPr/>
        </p:nvSpPr>
        <p:spPr>
          <a:xfrm>
            <a:off x="812800" y="1884680"/>
            <a:ext cx="7002304" cy="711200"/>
          </a:xfrm>
          <a:custGeom>
            <a:avLst/>
            <a:gdLst/>
            <a:ahLst/>
            <a:cxnLst/>
            <a:rect l="l" t="t" r="r" b="b"/>
            <a:pathLst>
              <a:path w="7002304" h="711200">
                <a:moveTo>
                  <a:pt x="0" y="152400"/>
                </a:moveTo>
                <a:arcTo wR="152400" hR="152400" stAng="10800000" swAng="5400000"/>
                <a:lnTo>
                  <a:pt x="7002304" y="0"/>
                </a:lnTo>
                <a:lnTo>
                  <a:pt x="7002304" y="711200"/>
                </a:lnTo>
                <a:lnTo>
                  <a:pt x="152400" y="711200"/>
                </a:lnTo>
                <a:arcTo wR="152400" hR="152400" stAng="5400000" swAng="5400000"/>
                <a:close/>
              </a:path>
            </a:pathLst>
          </a:custGeom>
          <a:solidFill>
            <a:srgbClr val="5B4BFF"/>
          </a:solidFill>
          <a:ln/>
        </p:spPr>
        <p:txBody>
          <a:bodyPr wrap="square" lIns="254000" tIns="0" rIns="59170" bIns="0" rtlCol="0" anchor="t">
            <a:normAutofit/>
          </a:bodyPr>
          <a:lstStyle/>
          <a:p>
            <a:pPr marL="0" indent="0" algn="l">
              <a:lnSpc>
                <a:spcPts val="5610"/>
              </a:lnSpc>
              <a:buNone/>
            </a:pPr>
            <a:r>
              <a:rPr lang="en-US" sz="2200" b="1" dirty="0">
                <a:solidFill>
                  <a:srgbClr val="FBFAF7"/>
                </a:solidFill>
                <a:latin typeface="DM Sans" pitchFamily="34" charset="0"/>
                <a:ea typeface="DM Sans" pitchFamily="34" charset="-122"/>
                <a:cs typeface="DM Sans" pitchFamily="34" charset="-120"/>
              </a:rPr>
              <a:t>Male 68%</a:t>
            </a:r>
            <a:endParaRPr lang="en-US" sz="2200" dirty="0"/>
          </a:p>
        </p:txBody>
      </p:sp>
      <p:sp>
        <p:nvSpPr>
          <p:cNvPr id="5" name="Text 3"/>
          <p:cNvSpPr/>
          <p:nvPr/>
        </p:nvSpPr>
        <p:spPr>
          <a:xfrm>
            <a:off x="7815104" y="1884680"/>
            <a:ext cx="3564096" cy="711200"/>
          </a:xfrm>
          <a:custGeom>
            <a:avLst/>
            <a:gdLst/>
            <a:ahLst/>
            <a:cxnLst/>
            <a:rect l="l" t="t" r="r" b="b"/>
            <a:pathLst>
              <a:path w="3564096" h="711200">
                <a:moveTo>
                  <a:pt x="3411696" y="0"/>
                </a:moveTo>
                <a:arcTo wR="152400" hR="152400" stAng="16200000" swAng="5400000"/>
                <a:lnTo>
                  <a:pt x="3564096" y="558800"/>
                </a:lnTo>
                <a:arcTo wR="152400" hR="152400" stAng="0" swAng="5400000"/>
                <a:lnTo>
                  <a:pt x="0" y="711200"/>
                </a:lnTo>
                <a:lnTo>
                  <a:pt x="0" y="0"/>
                </a:lnTo>
                <a:close/>
              </a:path>
            </a:pathLst>
          </a:custGeom>
          <a:solidFill>
            <a:srgbClr val="FF7A45"/>
          </a:solidFill>
          <a:ln/>
        </p:spPr>
        <p:txBody>
          <a:bodyPr wrap="square" lIns="254000" tIns="0" rIns="162317" bIns="0" rtlCol="0" anchor="t">
            <a:normAutofit/>
          </a:bodyPr>
          <a:lstStyle/>
          <a:p>
            <a:pPr marL="0" indent="0" algn="l">
              <a:lnSpc>
                <a:spcPts val="5610"/>
              </a:lnSpc>
              <a:buNone/>
            </a:pPr>
            <a:r>
              <a:rPr lang="en-US" sz="2200" b="1" dirty="0">
                <a:solidFill>
                  <a:srgbClr val="17171C"/>
                </a:solidFill>
                <a:latin typeface="DM Sans" pitchFamily="34" charset="0"/>
                <a:ea typeface="DM Sans" pitchFamily="34" charset="-122"/>
                <a:cs typeface="DM Sans" pitchFamily="34" charset="-120"/>
              </a:rPr>
              <a:t>Female 32%</a:t>
            </a:r>
            <a:endParaRPr lang="en-US" sz="2200" dirty="0"/>
          </a:p>
        </p:txBody>
      </p:sp>
      <p:sp>
        <p:nvSpPr>
          <p:cNvPr id="6" name="Text 4"/>
          <p:cNvSpPr/>
          <p:nvPr/>
        </p:nvSpPr>
        <p:spPr>
          <a:xfrm>
            <a:off x="812800" y="2849880"/>
            <a:ext cx="5337048"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5B4BFF"/>
                </a:solidFill>
                <a:latin typeface="DM Sans" pitchFamily="34" charset="0"/>
                <a:ea typeface="DM Sans" pitchFamily="34" charset="-122"/>
                <a:cs typeface="DM Sans" pitchFamily="34" charset="-120"/>
              </a:rPr>
              <a:t>$157,890</a:t>
            </a:r>
            <a:endParaRPr lang="en-US" sz="4800" dirty="0"/>
          </a:p>
        </p:txBody>
      </p:sp>
      <p:sp>
        <p:nvSpPr>
          <p:cNvPr id="7" name="Text 5"/>
          <p:cNvSpPr/>
          <p:nvPr/>
        </p:nvSpPr>
        <p:spPr>
          <a:xfrm>
            <a:off x="812800" y="3535680"/>
            <a:ext cx="5337048"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Revenue from male customers</a:t>
            </a:r>
            <a:endParaRPr lang="en-US" sz="1600" dirty="0"/>
          </a:p>
        </p:txBody>
      </p:sp>
      <p:sp>
        <p:nvSpPr>
          <p:cNvPr id="8" name="Text 6"/>
          <p:cNvSpPr/>
          <p:nvPr/>
        </p:nvSpPr>
        <p:spPr>
          <a:xfrm>
            <a:off x="6197600" y="2849880"/>
            <a:ext cx="5337048"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C8501C"/>
                </a:solidFill>
                <a:latin typeface="DM Sans" pitchFamily="34" charset="0"/>
                <a:ea typeface="DM Sans" pitchFamily="34" charset="-122"/>
                <a:cs typeface="DM Sans" pitchFamily="34" charset="-120"/>
              </a:rPr>
              <a:t>$75,191</a:t>
            </a:r>
            <a:endParaRPr lang="en-US" sz="4800" dirty="0"/>
          </a:p>
        </p:txBody>
      </p:sp>
      <p:sp>
        <p:nvSpPr>
          <p:cNvPr id="9" name="Text 7"/>
          <p:cNvSpPr/>
          <p:nvPr/>
        </p:nvSpPr>
        <p:spPr>
          <a:xfrm>
            <a:off x="6197600" y="3535680"/>
            <a:ext cx="5337048"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Revenue from female customers</a:t>
            </a:r>
            <a:endParaRPr lang="en-US" sz="1600" dirty="0"/>
          </a:p>
        </p:txBody>
      </p:sp>
      <p:sp>
        <p:nvSpPr>
          <p:cNvPr id="10" name="Shape 8"/>
          <p:cNvSpPr/>
          <p:nvPr/>
        </p:nvSpPr>
        <p:spPr>
          <a:xfrm>
            <a:off x="831850" y="4074161"/>
            <a:ext cx="0" cy="386080"/>
          </a:xfrm>
          <a:prstGeom prst="line">
            <a:avLst/>
          </a:prstGeom>
          <a:noFill/>
          <a:ln w="38100">
            <a:solidFill>
              <a:srgbClr val="5B4BFF"/>
            </a:solidFill>
            <a:prstDash val="solid"/>
          </a:ln>
        </p:spPr>
        <p:txBody>
          <a:bodyPr/>
          <a:lstStyle/>
          <a:p>
            <a:endParaRPr lang="en-US"/>
          </a:p>
        </p:txBody>
      </p:sp>
      <p:sp>
        <p:nvSpPr>
          <p:cNvPr id="11" name="Text 9"/>
          <p:cNvSpPr/>
          <p:nvPr/>
        </p:nvSpPr>
        <p:spPr>
          <a:xfrm>
            <a:off x="1051560" y="4124961"/>
            <a:ext cx="10428173"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171C"/>
                </a:solidFill>
                <a:latin typeface="DM Sans" pitchFamily="34" charset="0"/>
                <a:ea typeface="DM Sans" pitchFamily="34" charset="-122"/>
                <a:cs typeface="DM Sans" pitchFamily="34" charset="-120"/>
              </a:rPr>
              <a:t>The gap largely reflects the customer base: about 68% of customers are male.</a:t>
            </a:r>
            <a:endParaRPr lang="en-US" sz="1600" dirty="0"/>
          </a:p>
        </p:txBody>
      </p:sp>
      <p:sp>
        <p:nvSpPr>
          <p:cNvPr id="13" name="Text 11"/>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B76"/>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4BFF"/>
                </a:solidFill>
                <a:latin typeface="DM Sans" pitchFamily="34" charset="0"/>
                <a:ea typeface="DM Sans" pitchFamily="34" charset="-122"/>
                <a:cs typeface="DM Sans" pitchFamily="34" charset="-120"/>
              </a:rPr>
              <a:t>WHO BUYS</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171C"/>
                </a:solidFill>
                <a:latin typeface="DM Sans" pitchFamily="34" charset="0"/>
                <a:ea typeface="DM Sans" pitchFamily="34" charset="-122"/>
                <a:cs typeface="DM Sans" pitchFamily="34" charset="-120"/>
              </a:rPr>
              <a:t>Young Adults lead revenue</a:t>
            </a:r>
            <a:endParaRPr lang="en-US" sz="3600" dirty="0"/>
          </a:p>
        </p:txBody>
      </p:sp>
      <p:sp>
        <p:nvSpPr>
          <p:cNvPr id="4" name="Text 2"/>
          <p:cNvSpPr/>
          <p:nvPr/>
        </p:nvSpPr>
        <p:spPr>
          <a:xfrm>
            <a:off x="812800" y="1920239"/>
            <a:ext cx="1574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171C"/>
                </a:solidFill>
                <a:latin typeface="DM Sans" pitchFamily="34" charset="0"/>
                <a:ea typeface="DM Sans" pitchFamily="34" charset="-122"/>
                <a:cs typeface="DM Sans" pitchFamily="34" charset="-120"/>
              </a:rPr>
              <a:t>Young Adult</a:t>
            </a:r>
            <a:endParaRPr lang="en-US" sz="1600" dirty="0"/>
          </a:p>
        </p:txBody>
      </p:sp>
      <p:sp>
        <p:nvSpPr>
          <p:cNvPr id="5" name="Shape 3"/>
          <p:cNvSpPr/>
          <p:nvPr/>
        </p:nvSpPr>
        <p:spPr>
          <a:xfrm>
            <a:off x="2489200" y="1884682"/>
            <a:ext cx="6667500" cy="355600"/>
          </a:xfrm>
          <a:prstGeom prst="roundRect">
            <a:avLst>
              <a:gd name="adj" fmla="val 21429"/>
            </a:avLst>
          </a:prstGeom>
          <a:solidFill>
            <a:srgbClr val="5B4BFF"/>
          </a:solidFill>
          <a:ln/>
        </p:spPr>
        <p:txBody>
          <a:bodyPr/>
          <a:lstStyle/>
          <a:p>
            <a:endParaRPr lang="en-US"/>
          </a:p>
        </p:txBody>
      </p:sp>
      <p:sp>
        <p:nvSpPr>
          <p:cNvPr id="6" name="Text 4"/>
          <p:cNvSpPr/>
          <p:nvPr/>
        </p:nvSpPr>
        <p:spPr>
          <a:xfrm>
            <a:off x="9309100" y="1920239"/>
            <a:ext cx="89430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171C"/>
                </a:solidFill>
                <a:latin typeface="DM Sans" pitchFamily="34" charset="0"/>
                <a:ea typeface="DM Sans" pitchFamily="34" charset="-122"/>
                <a:cs typeface="DM Sans" pitchFamily="34" charset="-120"/>
              </a:rPr>
              <a:t>$62,143</a:t>
            </a:r>
            <a:endParaRPr lang="en-US" sz="1600" dirty="0"/>
          </a:p>
        </p:txBody>
      </p:sp>
      <p:sp>
        <p:nvSpPr>
          <p:cNvPr id="7" name="Text 5"/>
          <p:cNvSpPr/>
          <p:nvPr/>
        </p:nvSpPr>
        <p:spPr>
          <a:xfrm>
            <a:off x="812800" y="2453639"/>
            <a:ext cx="1574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171C"/>
                </a:solidFill>
                <a:latin typeface="DM Sans" pitchFamily="34" charset="0"/>
                <a:ea typeface="DM Sans" pitchFamily="34" charset="-122"/>
                <a:cs typeface="DM Sans" pitchFamily="34" charset="-120"/>
              </a:rPr>
              <a:t>Middle Aged</a:t>
            </a:r>
            <a:endParaRPr lang="en-US" sz="1600" dirty="0"/>
          </a:p>
        </p:txBody>
      </p:sp>
      <p:sp>
        <p:nvSpPr>
          <p:cNvPr id="8" name="Shape 6"/>
          <p:cNvSpPr/>
          <p:nvPr/>
        </p:nvSpPr>
        <p:spPr>
          <a:xfrm>
            <a:off x="2489200" y="2418082"/>
            <a:ext cx="6350000" cy="355600"/>
          </a:xfrm>
          <a:prstGeom prst="roundRect">
            <a:avLst>
              <a:gd name="adj" fmla="val 21429"/>
            </a:avLst>
          </a:prstGeom>
          <a:solidFill>
            <a:srgbClr val="A9A2F5"/>
          </a:solidFill>
          <a:ln/>
        </p:spPr>
        <p:txBody>
          <a:bodyPr/>
          <a:lstStyle/>
          <a:p>
            <a:endParaRPr lang="en-US"/>
          </a:p>
        </p:txBody>
      </p:sp>
      <p:sp>
        <p:nvSpPr>
          <p:cNvPr id="9" name="Text 7"/>
          <p:cNvSpPr/>
          <p:nvPr/>
        </p:nvSpPr>
        <p:spPr>
          <a:xfrm>
            <a:off x="8991600" y="2453639"/>
            <a:ext cx="878967"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171C"/>
                </a:solidFill>
                <a:latin typeface="DM Sans" pitchFamily="34" charset="0"/>
                <a:ea typeface="DM Sans" pitchFamily="34" charset="-122"/>
                <a:cs typeface="DM Sans" pitchFamily="34" charset="-120"/>
              </a:rPr>
              <a:t>$59,197</a:t>
            </a:r>
            <a:endParaRPr lang="en-US" sz="1600" dirty="0"/>
          </a:p>
        </p:txBody>
      </p:sp>
      <p:sp>
        <p:nvSpPr>
          <p:cNvPr id="10" name="Text 8"/>
          <p:cNvSpPr/>
          <p:nvPr/>
        </p:nvSpPr>
        <p:spPr>
          <a:xfrm>
            <a:off x="812800" y="2987039"/>
            <a:ext cx="1574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171C"/>
                </a:solidFill>
                <a:latin typeface="DM Sans" pitchFamily="34" charset="0"/>
                <a:ea typeface="DM Sans" pitchFamily="34" charset="-122"/>
                <a:cs typeface="DM Sans" pitchFamily="34" charset="-120"/>
              </a:rPr>
              <a:t>Adult</a:t>
            </a:r>
            <a:endParaRPr lang="en-US" sz="1600" dirty="0"/>
          </a:p>
        </p:txBody>
      </p:sp>
      <p:sp>
        <p:nvSpPr>
          <p:cNvPr id="11" name="Shape 9"/>
          <p:cNvSpPr/>
          <p:nvPr/>
        </p:nvSpPr>
        <p:spPr>
          <a:xfrm>
            <a:off x="2489200" y="2951482"/>
            <a:ext cx="6007100" cy="355600"/>
          </a:xfrm>
          <a:prstGeom prst="roundRect">
            <a:avLst>
              <a:gd name="adj" fmla="val 21429"/>
            </a:avLst>
          </a:prstGeom>
          <a:solidFill>
            <a:srgbClr val="A9A2F5"/>
          </a:solidFill>
          <a:ln/>
        </p:spPr>
        <p:txBody>
          <a:bodyPr/>
          <a:lstStyle/>
          <a:p>
            <a:endParaRPr lang="en-US"/>
          </a:p>
        </p:txBody>
      </p:sp>
      <p:sp>
        <p:nvSpPr>
          <p:cNvPr id="12" name="Text 10"/>
          <p:cNvSpPr/>
          <p:nvPr/>
        </p:nvSpPr>
        <p:spPr>
          <a:xfrm>
            <a:off x="8648700" y="2987039"/>
            <a:ext cx="945261"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171C"/>
                </a:solidFill>
                <a:latin typeface="DM Sans" pitchFamily="34" charset="0"/>
                <a:ea typeface="DM Sans" pitchFamily="34" charset="-122"/>
                <a:cs typeface="DM Sans" pitchFamily="34" charset="-120"/>
              </a:rPr>
              <a:t>$55,978</a:t>
            </a:r>
            <a:endParaRPr lang="en-US" sz="1600" dirty="0"/>
          </a:p>
        </p:txBody>
      </p:sp>
      <p:sp>
        <p:nvSpPr>
          <p:cNvPr id="13" name="Text 11"/>
          <p:cNvSpPr/>
          <p:nvPr/>
        </p:nvSpPr>
        <p:spPr>
          <a:xfrm>
            <a:off x="812800" y="3520439"/>
            <a:ext cx="1574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171C"/>
                </a:solidFill>
                <a:latin typeface="DM Sans" pitchFamily="34" charset="0"/>
                <a:ea typeface="DM Sans" pitchFamily="34" charset="-122"/>
                <a:cs typeface="DM Sans" pitchFamily="34" charset="-120"/>
              </a:rPr>
              <a:t>Senior</a:t>
            </a:r>
            <a:endParaRPr lang="en-US" sz="1600" dirty="0"/>
          </a:p>
        </p:txBody>
      </p:sp>
      <p:sp>
        <p:nvSpPr>
          <p:cNvPr id="14" name="Shape 12"/>
          <p:cNvSpPr/>
          <p:nvPr/>
        </p:nvSpPr>
        <p:spPr>
          <a:xfrm>
            <a:off x="2489200" y="3484882"/>
            <a:ext cx="5981700" cy="355600"/>
          </a:xfrm>
          <a:prstGeom prst="roundRect">
            <a:avLst>
              <a:gd name="adj" fmla="val 21429"/>
            </a:avLst>
          </a:prstGeom>
          <a:solidFill>
            <a:srgbClr val="A9A2F5"/>
          </a:solidFill>
          <a:ln/>
        </p:spPr>
        <p:txBody>
          <a:bodyPr/>
          <a:lstStyle/>
          <a:p>
            <a:endParaRPr lang="en-US"/>
          </a:p>
        </p:txBody>
      </p:sp>
      <p:sp>
        <p:nvSpPr>
          <p:cNvPr id="15" name="Text 13"/>
          <p:cNvSpPr/>
          <p:nvPr/>
        </p:nvSpPr>
        <p:spPr>
          <a:xfrm>
            <a:off x="8623300" y="3520439"/>
            <a:ext cx="93983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171C"/>
                </a:solidFill>
                <a:latin typeface="DM Sans" pitchFamily="34" charset="0"/>
                <a:ea typeface="DM Sans" pitchFamily="34" charset="-122"/>
                <a:cs typeface="DM Sans" pitchFamily="34" charset="-120"/>
              </a:rPr>
              <a:t>$55,763</a:t>
            </a:r>
            <a:endParaRPr lang="en-US" sz="1600" dirty="0"/>
          </a:p>
        </p:txBody>
      </p:sp>
      <p:sp>
        <p:nvSpPr>
          <p:cNvPr id="16" name="Shape 14"/>
          <p:cNvSpPr/>
          <p:nvPr/>
        </p:nvSpPr>
        <p:spPr>
          <a:xfrm>
            <a:off x="831850" y="4094482"/>
            <a:ext cx="0" cy="386080"/>
          </a:xfrm>
          <a:prstGeom prst="line">
            <a:avLst/>
          </a:prstGeom>
          <a:noFill/>
          <a:ln w="38100">
            <a:solidFill>
              <a:srgbClr val="5B4BFF"/>
            </a:solidFill>
            <a:prstDash val="solid"/>
          </a:ln>
        </p:spPr>
        <p:txBody>
          <a:bodyPr/>
          <a:lstStyle/>
          <a:p>
            <a:endParaRPr lang="en-US"/>
          </a:p>
        </p:txBody>
      </p:sp>
      <p:sp>
        <p:nvSpPr>
          <p:cNvPr id="17" name="Text 15"/>
          <p:cNvSpPr/>
          <p:nvPr/>
        </p:nvSpPr>
        <p:spPr>
          <a:xfrm>
            <a:off x="1051560" y="4145282"/>
            <a:ext cx="10428173"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171C"/>
                </a:solidFill>
                <a:latin typeface="DM Sans" pitchFamily="34" charset="0"/>
                <a:ea typeface="DM Sans" pitchFamily="34" charset="-122"/>
                <a:cs typeface="DM Sans" pitchFamily="34" charset="-120"/>
              </a:rPr>
              <a:t>All four groups sit within about 3 percentage points of each other, so no age group can be ignored.</a:t>
            </a:r>
            <a:endParaRPr lang="en-US" sz="1600" dirty="0"/>
          </a:p>
        </p:txBody>
      </p:sp>
      <p:sp>
        <p:nvSpPr>
          <p:cNvPr id="19" name="Text 17"/>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B76"/>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4BFF"/>
                </a:solidFill>
                <a:latin typeface="DM Sans" pitchFamily="34" charset="0"/>
                <a:ea typeface="DM Sans" pitchFamily="34" charset="-122"/>
                <a:cs typeface="DM Sans" pitchFamily="34" charset="-120"/>
              </a:rPr>
              <a:t>HOW THEY PAY</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171C"/>
                </a:solidFill>
                <a:latin typeface="DM Sans" pitchFamily="34" charset="0"/>
                <a:ea typeface="DM Sans" pitchFamily="34" charset="-122"/>
                <a:cs typeface="DM Sans" pitchFamily="34" charset="-120"/>
              </a:rPr>
              <a:t>Payment mix is closely matched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4842"/>
          <a:ext cx="10556240" cy="2684780"/>
        </p:xfrm>
        <a:graphic>
          <a:graphicData uri="http://schemas.openxmlformats.org/drawingml/2006/table">
            <a:tbl>
              <a:tblPr/>
              <a:tblGrid>
                <a:gridCol w="4222496">
                  <a:extLst>
                    <a:ext uri="{9D8B030D-6E8A-4147-A177-3AD203B41FA5}">
                      <a16:colId xmlns:a16="http://schemas.microsoft.com/office/drawing/2014/main" val="20000"/>
                    </a:ext>
                  </a:extLst>
                </a:gridCol>
                <a:gridCol w="3166872">
                  <a:extLst>
                    <a:ext uri="{9D8B030D-6E8A-4147-A177-3AD203B41FA5}">
                      <a16:colId xmlns:a16="http://schemas.microsoft.com/office/drawing/2014/main" val="20001"/>
                    </a:ext>
                  </a:extLst>
                </a:gridCol>
                <a:gridCol w="3166872">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5F3EE"/>
                          </a:solidFill>
                          <a:latin typeface="DM Sans" pitchFamily="34" charset="0"/>
                          <a:ea typeface="DM Sans" pitchFamily="34" charset="-122"/>
                          <a:cs typeface="DM Sans" pitchFamily="34" charset="-120"/>
                        </a:rPr>
                        <a:t>Payment method</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16161A"/>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161A"/>
                      </a:solidFill>
                      <a:prstDash val="solid"/>
                      <a:round/>
                      <a:headEnd type="none" w="med" len="med"/>
                      <a:tailEnd type="none" w="med" len="med"/>
                    </a:lnB>
                    <a:solidFill>
                      <a:srgbClr val="17171C"/>
                    </a:solidFill>
                  </a:tcPr>
                </a:tc>
                <a:tc>
                  <a:txBody>
                    <a:bodyPr/>
                    <a:lstStyle/>
                    <a:p>
                      <a:pPr marL="0" indent="0" algn="r">
                        <a:lnSpc>
                          <a:spcPts val="1960"/>
                        </a:lnSpc>
                        <a:buNone/>
                      </a:pPr>
                      <a:r>
                        <a:rPr lang="en-US" sz="1400" b="1" dirty="0">
                          <a:solidFill>
                            <a:srgbClr val="F5F3EE"/>
                          </a:solidFill>
                          <a:latin typeface="DM Sans" pitchFamily="34" charset="0"/>
                          <a:ea typeface="DM Sans" pitchFamily="34" charset="-122"/>
                          <a:cs typeface="DM Sans" pitchFamily="34" charset="-120"/>
                        </a:rPr>
                        <a:t>Purchases</a:t>
                      </a:r>
                      <a:endParaRPr lang="en-US" sz="1400" dirty="0">
                        <a:latin typeface="DM Sans" charset="0"/>
                        <a:ea typeface="DM Sans" charset="0"/>
                        <a:cs typeface="DM Sans" charset="0"/>
                      </a:endParaRPr>
                    </a:p>
                  </a:txBody>
                  <a:tcPr marL="62230" marR="62230" marT="62230" marB="62230">
                    <a:lnL w="12700" cap="flat" cmpd="sng" algn="ctr">
                      <a:solidFill>
                        <a:srgbClr val="16161A"/>
                      </a:solidFill>
                      <a:prstDash val="solid"/>
                      <a:round/>
                      <a:headEnd type="none" w="med" len="med"/>
                      <a:tailEnd type="none" w="med" len="med"/>
                    </a:lnL>
                    <a:lnR w="12700" cap="flat" cmpd="sng" algn="ctr">
                      <a:solidFill>
                        <a:srgbClr val="16161A"/>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161A"/>
                      </a:solidFill>
                      <a:prstDash val="solid"/>
                      <a:round/>
                      <a:headEnd type="none" w="med" len="med"/>
                      <a:tailEnd type="none" w="med" len="med"/>
                    </a:lnB>
                    <a:solidFill>
                      <a:srgbClr val="17171C"/>
                    </a:solidFill>
                  </a:tcPr>
                </a:tc>
                <a:tc>
                  <a:txBody>
                    <a:bodyPr/>
                    <a:lstStyle/>
                    <a:p>
                      <a:pPr marL="0" indent="0" algn="r">
                        <a:lnSpc>
                          <a:spcPts val="1960"/>
                        </a:lnSpc>
                        <a:buNone/>
                      </a:pPr>
                      <a:r>
                        <a:rPr lang="en-US" sz="1400" b="1" dirty="0">
                          <a:solidFill>
                            <a:srgbClr val="F5F3EE"/>
                          </a:solidFill>
                          <a:latin typeface="DM Sans" pitchFamily="34" charset="0"/>
                          <a:ea typeface="DM Sans" pitchFamily="34" charset="-122"/>
                          <a:cs typeface="DM Sans" pitchFamily="34" charset="-120"/>
                        </a:rPr>
                        <a:t>Revenue</a:t>
                      </a:r>
                      <a:endParaRPr lang="en-US" sz="1400" dirty="0">
                        <a:latin typeface="DM Sans" charset="0"/>
                        <a:ea typeface="DM Sans" charset="0"/>
                        <a:cs typeface="DM Sans" charset="0"/>
                      </a:endParaRPr>
                    </a:p>
                  </a:txBody>
                  <a:tcPr marL="62230" marR="62230" marT="62230" marB="62230">
                    <a:lnL w="12700" cap="flat" cmpd="sng" algn="ctr">
                      <a:solidFill>
                        <a:srgbClr val="16161A"/>
                      </a:solidFill>
                      <a:prstDash val="solid"/>
                      <a:round/>
                      <a:headEnd type="none" w="med" len="med"/>
                      <a:tailEnd type="none" w="med" len="med"/>
                    </a:lnL>
                    <a:lnR w="12700" cap="flat" cmpd="sng" algn="ctr">
                      <a:solidFill>
                        <a:srgbClr val="16161A"/>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161A"/>
                      </a:solidFill>
                      <a:prstDash val="solid"/>
                      <a:round/>
                      <a:headEnd type="none" w="med" len="med"/>
                      <a:tailEnd type="none" w="med" len="med"/>
                    </a:lnB>
                    <a:solidFill>
                      <a:srgbClr val="17171C"/>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PayPal</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61A"/>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677</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61A"/>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$40,109</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61A"/>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Credit Card</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671</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$40,310</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Cash</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670</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$40,002</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Debit Card</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636</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$38,742</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Venmo</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634</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$37,374</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Bank Transfer</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612</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$36,544</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83362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Revenue between the top and bottom method differs by under $4,000.</a:t>
            </a:r>
            <a:endParaRPr lang="en-US" sz="1600" dirty="0"/>
          </a:p>
        </p:txBody>
      </p:sp>
      <p:sp>
        <p:nvSpPr>
          <p:cNvPr id="7" name="Text 4"/>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B76"/>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4BFF"/>
                </a:solidFill>
                <a:latin typeface="DM Sans" pitchFamily="34" charset="0"/>
                <a:ea typeface="DM Sans" pitchFamily="34" charset="-122"/>
                <a:cs typeface="DM Sans" pitchFamily="34" charset="-120"/>
              </a:rPr>
              <a:t>SUBSCRIPTIONS</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171C"/>
                </a:solidFill>
                <a:latin typeface="DM Sans" pitchFamily="34" charset="0"/>
                <a:ea typeface="DM Sans" pitchFamily="34" charset="-122"/>
                <a:cs typeface="DM Sans" pitchFamily="34" charset="-120"/>
              </a:rPr>
              <a:t>Subscribers spend the same</a:t>
            </a:r>
            <a:endParaRPr lang="en-US" sz="3600" dirty="0"/>
          </a:p>
        </p:txBody>
      </p:sp>
      <p:sp>
        <p:nvSpPr>
          <p:cNvPr id="4" name="Shape 2"/>
          <p:cNvSpPr/>
          <p:nvPr/>
        </p:nvSpPr>
        <p:spPr>
          <a:xfrm>
            <a:off x="812800" y="1884682"/>
            <a:ext cx="5176520" cy="2651760"/>
          </a:xfrm>
          <a:prstGeom prst="roundRect">
            <a:avLst>
              <a:gd name="adj" fmla="val 5747"/>
            </a:avLst>
          </a:prstGeom>
          <a:solidFill>
            <a:srgbClr val="17171C"/>
          </a:solidFill>
          <a:ln/>
        </p:spPr>
        <p:txBody>
          <a:bodyPr/>
          <a:lstStyle/>
          <a:p>
            <a:endParaRPr lang="en-US"/>
          </a:p>
        </p:txBody>
      </p:sp>
      <p:sp>
        <p:nvSpPr>
          <p:cNvPr id="5" name="Text 3"/>
          <p:cNvSpPr/>
          <p:nvPr/>
        </p:nvSpPr>
        <p:spPr>
          <a:xfrm>
            <a:off x="1066800" y="2138682"/>
            <a:ext cx="480857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3EE"/>
                </a:solidFill>
                <a:latin typeface="DM Sans" pitchFamily="34" charset="0"/>
                <a:ea typeface="DM Sans" pitchFamily="34" charset="-122"/>
                <a:cs typeface="DM Sans" pitchFamily="34" charset="-120"/>
              </a:rPr>
              <a:t>Subscribers</a:t>
            </a:r>
            <a:endParaRPr lang="en-US" sz="2200" dirty="0"/>
          </a:p>
        </p:txBody>
      </p:sp>
      <p:sp>
        <p:nvSpPr>
          <p:cNvPr id="6" name="Shape 4"/>
          <p:cNvSpPr/>
          <p:nvPr/>
        </p:nvSpPr>
        <p:spPr>
          <a:xfrm>
            <a:off x="1066800" y="2578736"/>
            <a:ext cx="4668520" cy="0"/>
          </a:xfrm>
          <a:prstGeom prst="line">
            <a:avLst/>
          </a:prstGeom>
          <a:noFill/>
          <a:ln w="6350">
            <a:solidFill>
              <a:srgbClr val="3A3A44"/>
            </a:solidFill>
            <a:prstDash val="solid"/>
          </a:ln>
        </p:spPr>
        <p:txBody>
          <a:bodyPr/>
          <a:lstStyle/>
          <a:p>
            <a:endParaRPr lang="en-US"/>
          </a:p>
        </p:txBody>
      </p:sp>
      <p:sp>
        <p:nvSpPr>
          <p:cNvPr id="7" name="Text 5"/>
          <p:cNvSpPr/>
          <p:nvPr/>
        </p:nvSpPr>
        <p:spPr>
          <a:xfrm>
            <a:off x="1066800" y="2771139"/>
            <a:ext cx="9276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8C4"/>
                </a:solidFill>
                <a:latin typeface="DM Sans" pitchFamily="34" charset="0"/>
                <a:ea typeface="DM Sans" pitchFamily="34" charset="-122"/>
                <a:cs typeface="DM Sans" pitchFamily="34" charset="-120"/>
              </a:rPr>
              <a:t>Customers</a:t>
            </a:r>
            <a:endParaRPr lang="en-US" sz="1200" dirty="0"/>
          </a:p>
        </p:txBody>
      </p:sp>
      <p:sp>
        <p:nvSpPr>
          <p:cNvPr id="8" name="Text 6"/>
          <p:cNvSpPr/>
          <p:nvPr/>
        </p:nvSpPr>
        <p:spPr>
          <a:xfrm>
            <a:off x="3860419" y="2682239"/>
            <a:ext cx="1874901" cy="41656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F5F3EE"/>
                </a:solidFill>
                <a:latin typeface="DM Sans" pitchFamily="34" charset="0"/>
                <a:ea typeface="DM Sans" pitchFamily="34" charset="-122"/>
                <a:cs typeface="DM Sans" pitchFamily="34" charset="-120"/>
              </a:rPr>
              <a:t>1,053 (27%)</a:t>
            </a:r>
            <a:endParaRPr lang="en-US" sz="2200" dirty="0"/>
          </a:p>
        </p:txBody>
      </p:sp>
      <p:sp>
        <p:nvSpPr>
          <p:cNvPr id="9" name="Shape 7"/>
          <p:cNvSpPr/>
          <p:nvPr/>
        </p:nvSpPr>
        <p:spPr>
          <a:xfrm>
            <a:off x="1066800" y="3178175"/>
            <a:ext cx="4668520" cy="0"/>
          </a:xfrm>
          <a:prstGeom prst="line">
            <a:avLst/>
          </a:prstGeom>
          <a:noFill/>
          <a:ln w="6350">
            <a:solidFill>
              <a:srgbClr val="3A3A44"/>
            </a:solidFill>
            <a:prstDash val="solid"/>
          </a:ln>
        </p:spPr>
        <p:txBody>
          <a:bodyPr/>
          <a:lstStyle/>
          <a:p>
            <a:endParaRPr lang="en-US"/>
          </a:p>
        </p:txBody>
      </p:sp>
      <p:sp>
        <p:nvSpPr>
          <p:cNvPr id="10" name="Text 8"/>
          <p:cNvSpPr/>
          <p:nvPr/>
        </p:nvSpPr>
        <p:spPr>
          <a:xfrm>
            <a:off x="1066800" y="3370582"/>
            <a:ext cx="12556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8C4"/>
                </a:solidFill>
                <a:latin typeface="DM Sans" pitchFamily="34" charset="0"/>
                <a:ea typeface="DM Sans" pitchFamily="34" charset="-122"/>
                <a:cs typeface="DM Sans" pitchFamily="34" charset="-120"/>
              </a:rPr>
              <a:t>Average spend</a:t>
            </a:r>
            <a:endParaRPr lang="en-US" sz="1200" dirty="0"/>
          </a:p>
        </p:txBody>
      </p:sp>
      <p:sp>
        <p:nvSpPr>
          <p:cNvPr id="11" name="Text 9"/>
          <p:cNvSpPr/>
          <p:nvPr/>
        </p:nvSpPr>
        <p:spPr>
          <a:xfrm>
            <a:off x="4614989" y="3281682"/>
            <a:ext cx="1120331" cy="41656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F5F3EE"/>
                </a:solidFill>
                <a:latin typeface="DM Sans" pitchFamily="34" charset="0"/>
                <a:ea typeface="DM Sans" pitchFamily="34" charset="-122"/>
                <a:cs typeface="DM Sans" pitchFamily="34" charset="-120"/>
              </a:rPr>
              <a:t>$59.49</a:t>
            </a:r>
            <a:endParaRPr lang="en-US" sz="2200" dirty="0"/>
          </a:p>
        </p:txBody>
      </p:sp>
      <p:sp>
        <p:nvSpPr>
          <p:cNvPr id="12" name="Shape 10"/>
          <p:cNvSpPr/>
          <p:nvPr/>
        </p:nvSpPr>
        <p:spPr>
          <a:xfrm>
            <a:off x="1066800" y="3777614"/>
            <a:ext cx="4668520" cy="0"/>
          </a:xfrm>
          <a:prstGeom prst="line">
            <a:avLst/>
          </a:prstGeom>
          <a:noFill/>
          <a:ln w="6350">
            <a:solidFill>
              <a:srgbClr val="3A3A44"/>
            </a:solidFill>
            <a:prstDash val="solid"/>
          </a:ln>
        </p:spPr>
        <p:txBody>
          <a:bodyPr/>
          <a:lstStyle/>
          <a:p>
            <a:endParaRPr lang="en-US"/>
          </a:p>
        </p:txBody>
      </p:sp>
      <p:sp>
        <p:nvSpPr>
          <p:cNvPr id="13" name="Text 11"/>
          <p:cNvSpPr/>
          <p:nvPr/>
        </p:nvSpPr>
        <p:spPr>
          <a:xfrm>
            <a:off x="1066800" y="3970021"/>
            <a:ext cx="1125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8C4"/>
                </a:solidFill>
                <a:latin typeface="DM Sans" pitchFamily="34" charset="0"/>
                <a:ea typeface="DM Sans" pitchFamily="34" charset="-122"/>
                <a:cs typeface="DM Sans" pitchFamily="34" charset="-120"/>
              </a:rPr>
              <a:t>Total revenue</a:t>
            </a:r>
            <a:endParaRPr lang="en-US" sz="1200" dirty="0"/>
          </a:p>
        </p:txBody>
      </p:sp>
      <p:sp>
        <p:nvSpPr>
          <p:cNvPr id="14" name="Text 12"/>
          <p:cNvSpPr/>
          <p:nvPr/>
        </p:nvSpPr>
        <p:spPr>
          <a:xfrm>
            <a:off x="4409154" y="3881121"/>
            <a:ext cx="1326166" cy="41656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F5F3EE"/>
                </a:solidFill>
                <a:latin typeface="DM Sans" pitchFamily="34" charset="0"/>
                <a:ea typeface="DM Sans" pitchFamily="34" charset="-122"/>
                <a:cs typeface="DM Sans" pitchFamily="34" charset="-120"/>
              </a:rPr>
              <a:t>$62,645</a:t>
            </a:r>
            <a:endParaRPr lang="en-US" sz="2200" dirty="0"/>
          </a:p>
        </p:txBody>
      </p:sp>
      <p:sp>
        <p:nvSpPr>
          <p:cNvPr id="15" name="Shape 13"/>
          <p:cNvSpPr/>
          <p:nvPr/>
        </p:nvSpPr>
        <p:spPr>
          <a:xfrm>
            <a:off x="6195695" y="1887857"/>
            <a:ext cx="5180330" cy="2645410"/>
          </a:xfrm>
          <a:prstGeom prst="roundRect">
            <a:avLst>
              <a:gd name="adj" fmla="val 5641"/>
            </a:avLst>
          </a:prstGeom>
          <a:solidFill>
            <a:srgbClr val="FBFAF7"/>
          </a:solidFill>
          <a:ln w="6350">
            <a:solidFill>
              <a:srgbClr val="E4E1D8"/>
            </a:solidFill>
            <a:prstDash val="solid"/>
          </a:ln>
        </p:spPr>
        <p:txBody>
          <a:bodyPr/>
          <a:lstStyle/>
          <a:p>
            <a:endParaRPr lang="en-US"/>
          </a:p>
        </p:txBody>
      </p:sp>
      <p:sp>
        <p:nvSpPr>
          <p:cNvPr id="16" name="Text 14"/>
          <p:cNvSpPr/>
          <p:nvPr/>
        </p:nvSpPr>
        <p:spPr>
          <a:xfrm>
            <a:off x="6451600" y="2143761"/>
            <a:ext cx="480857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7171C"/>
                </a:solidFill>
                <a:latin typeface="DM Sans" pitchFamily="34" charset="0"/>
                <a:ea typeface="DM Sans" pitchFamily="34" charset="-122"/>
                <a:cs typeface="DM Sans" pitchFamily="34" charset="-120"/>
              </a:rPr>
              <a:t>Non-subscribers</a:t>
            </a:r>
            <a:endParaRPr lang="en-US" sz="2200" dirty="0"/>
          </a:p>
        </p:txBody>
      </p:sp>
      <p:sp>
        <p:nvSpPr>
          <p:cNvPr id="17" name="Shape 15"/>
          <p:cNvSpPr/>
          <p:nvPr/>
        </p:nvSpPr>
        <p:spPr>
          <a:xfrm>
            <a:off x="6451600" y="2583814"/>
            <a:ext cx="4668520" cy="0"/>
          </a:xfrm>
          <a:prstGeom prst="line">
            <a:avLst/>
          </a:prstGeom>
          <a:noFill/>
          <a:ln w="6350">
            <a:solidFill>
              <a:srgbClr val="E4E1D8"/>
            </a:solidFill>
            <a:prstDash val="solid"/>
          </a:ln>
        </p:spPr>
        <p:txBody>
          <a:bodyPr/>
          <a:lstStyle/>
          <a:p>
            <a:endParaRPr lang="en-US"/>
          </a:p>
        </p:txBody>
      </p:sp>
      <p:sp>
        <p:nvSpPr>
          <p:cNvPr id="18" name="Text 16"/>
          <p:cNvSpPr/>
          <p:nvPr/>
        </p:nvSpPr>
        <p:spPr>
          <a:xfrm>
            <a:off x="6451600" y="2776221"/>
            <a:ext cx="9276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Customers</a:t>
            </a:r>
            <a:endParaRPr lang="en-US" sz="1200" dirty="0"/>
          </a:p>
        </p:txBody>
      </p:sp>
      <p:sp>
        <p:nvSpPr>
          <p:cNvPr id="19" name="Text 17"/>
          <p:cNvSpPr/>
          <p:nvPr/>
        </p:nvSpPr>
        <p:spPr>
          <a:xfrm>
            <a:off x="9205595" y="2687321"/>
            <a:ext cx="1914525" cy="41656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17171C"/>
                </a:solidFill>
                <a:latin typeface="DM Sans" pitchFamily="34" charset="0"/>
                <a:ea typeface="DM Sans" pitchFamily="34" charset="-122"/>
                <a:cs typeface="DM Sans" pitchFamily="34" charset="-120"/>
              </a:rPr>
              <a:t>2,847 (73%)</a:t>
            </a:r>
            <a:endParaRPr lang="en-US" sz="2200" dirty="0"/>
          </a:p>
        </p:txBody>
      </p:sp>
      <p:sp>
        <p:nvSpPr>
          <p:cNvPr id="20" name="Shape 18"/>
          <p:cNvSpPr/>
          <p:nvPr/>
        </p:nvSpPr>
        <p:spPr>
          <a:xfrm>
            <a:off x="6451600" y="3183257"/>
            <a:ext cx="4668520" cy="0"/>
          </a:xfrm>
          <a:prstGeom prst="line">
            <a:avLst/>
          </a:prstGeom>
          <a:noFill/>
          <a:ln w="6350">
            <a:solidFill>
              <a:srgbClr val="E4E1D8"/>
            </a:solidFill>
            <a:prstDash val="solid"/>
          </a:ln>
        </p:spPr>
        <p:txBody>
          <a:bodyPr/>
          <a:lstStyle/>
          <a:p>
            <a:endParaRPr lang="en-US"/>
          </a:p>
        </p:txBody>
      </p:sp>
      <p:sp>
        <p:nvSpPr>
          <p:cNvPr id="21" name="Text 19"/>
          <p:cNvSpPr/>
          <p:nvPr/>
        </p:nvSpPr>
        <p:spPr>
          <a:xfrm>
            <a:off x="6451600" y="3375661"/>
            <a:ext cx="12556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Average spend</a:t>
            </a:r>
            <a:endParaRPr lang="en-US" sz="1200" dirty="0"/>
          </a:p>
        </p:txBody>
      </p:sp>
      <p:sp>
        <p:nvSpPr>
          <p:cNvPr id="22" name="Text 20"/>
          <p:cNvSpPr/>
          <p:nvPr/>
        </p:nvSpPr>
        <p:spPr>
          <a:xfrm>
            <a:off x="10042271" y="3286761"/>
            <a:ext cx="1077849" cy="41656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17171C"/>
                </a:solidFill>
                <a:latin typeface="DM Sans" pitchFamily="34" charset="0"/>
                <a:ea typeface="DM Sans" pitchFamily="34" charset="-122"/>
                <a:cs typeface="DM Sans" pitchFamily="34" charset="-120"/>
              </a:rPr>
              <a:t>$59.87</a:t>
            </a:r>
            <a:endParaRPr lang="en-US" sz="2200" dirty="0"/>
          </a:p>
        </p:txBody>
      </p:sp>
      <p:sp>
        <p:nvSpPr>
          <p:cNvPr id="23" name="Shape 21"/>
          <p:cNvSpPr/>
          <p:nvPr/>
        </p:nvSpPr>
        <p:spPr>
          <a:xfrm>
            <a:off x="6451600" y="3782696"/>
            <a:ext cx="4668520" cy="0"/>
          </a:xfrm>
          <a:prstGeom prst="line">
            <a:avLst/>
          </a:prstGeom>
          <a:noFill/>
          <a:ln w="6350">
            <a:solidFill>
              <a:srgbClr val="E4E1D8"/>
            </a:solidFill>
            <a:prstDash val="solid"/>
          </a:ln>
        </p:spPr>
        <p:txBody>
          <a:bodyPr/>
          <a:lstStyle/>
          <a:p>
            <a:endParaRPr lang="en-US"/>
          </a:p>
        </p:txBody>
      </p:sp>
      <p:sp>
        <p:nvSpPr>
          <p:cNvPr id="24" name="Text 22"/>
          <p:cNvSpPr/>
          <p:nvPr/>
        </p:nvSpPr>
        <p:spPr>
          <a:xfrm>
            <a:off x="6451600" y="3975100"/>
            <a:ext cx="112528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Total revenue</a:t>
            </a:r>
            <a:endParaRPr lang="en-US" sz="1200" dirty="0"/>
          </a:p>
        </p:txBody>
      </p:sp>
      <p:sp>
        <p:nvSpPr>
          <p:cNvPr id="25" name="Text 23"/>
          <p:cNvSpPr/>
          <p:nvPr/>
        </p:nvSpPr>
        <p:spPr>
          <a:xfrm>
            <a:off x="9676607" y="3886200"/>
            <a:ext cx="1443514" cy="41656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17171C"/>
                </a:solidFill>
                <a:latin typeface="DM Sans" pitchFamily="34" charset="0"/>
                <a:ea typeface="DM Sans" pitchFamily="34" charset="-122"/>
                <a:cs typeface="DM Sans" pitchFamily="34" charset="-120"/>
              </a:rPr>
              <a:t>$170,436</a:t>
            </a:r>
            <a:endParaRPr lang="en-US" sz="2200" dirty="0"/>
          </a:p>
        </p:txBody>
      </p:sp>
      <p:sp>
        <p:nvSpPr>
          <p:cNvPr id="26" name="Text 24"/>
          <p:cNvSpPr/>
          <p:nvPr/>
        </p:nvSpPr>
        <p:spPr>
          <a:xfrm>
            <a:off x="812800" y="4790439"/>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Average spend is almost identical, so subscribing does not yet increase spending.</a:t>
            </a:r>
            <a:endParaRPr lang="en-US" sz="1600" dirty="0"/>
          </a:p>
        </p:txBody>
      </p:sp>
      <p:sp>
        <p:nvSpPr>
          <p:cNvPr id="28" name="Text 26"/>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B76"/>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4BFF"/>
                </a:solidFill>
                <a:latin typeface="DM Sans" pitchFamily="34" charset="0"/>
                <a:ea typeface="DM Sans" pitchFamily="34" charset="-122"/>
                <a:cs typeface="DM Sans" pitchFamily="34" charset="-120"/>
              </a:rPr>
              <a:t>SUBSCRIPTIONS</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171C"/>
                </a:solidFill>
                <a:latin typeface="DM Sans" pitchFamily="34" charset="0"/>
                <a:ea typeface="DM Sans" pitchFamily="34" charset="-122"/>
                <a:cs typeface="DM Sans" pitchFamily="34" charset="-120"/>
              </a:rPr>
              <a:t>Most repeat buyers aren’t subscribed</a:t>
            </a:r>
            <a:endParaRPr lang="en-US" sz="3600" dirty="0"/>
          </a:p>
        </p:txBody>
      </p:sp>
      <p:sp>
        <p:nvSpPr>
          <p:cNvPr id="4" name="Text 2"/>
          <p:cNvSpPr/>
          <p:nvPr/>
        </p:nvSpPr>
        <p:spPr>
          <a:xfrm>
            <a:off x="812800" y="1884682"/>
            <a:ext cx="3143885" cy="711200"/>
          </a:xfrm>
          <a:custGeom>
            <a:avLst/>
            <a:gdLst/>
            <a:ahLst/>
            <a:cxnLst/>
            <a:rect l="l" t="t" r="r" b="b"/>
            <a:pathLst>
              <a:path w="3143885" h="711200">
                <a:moveTo>
                  <a:pt x="0" y="152400"/>
                </a:moveTo>
                <a:arcTo wR="152400" hR="152400" stAng="10800000" swAng="5400000"/>
                <a:lnTo>
                  <a:pt x="3143885" y="0"/>
                </a:lnTo>
                <a:lnTo>
                  <a:pt x="3143885" y="711200"/>
                </a:lnTo>
                <a:lnTo>
                  <a:pt x="152400" y="711200"/>
                </a:lnTo>
                <a:arcTo wR="152400" hR="152400" stAng="5400000" swAng="5400000"/>
                <a:close/>
              </a:path>
            </a:pathLst>
          </a:custGeom>
          <a:solidFill>
            <a:srgbClr val="5B4BFF"/>
          </a:solidFill>
          <a:ln/>
        </p:spPr>
        <p:txBody>
          <a:bodyPr wrap="square" lIns="254000" tIns="0" rIns="174923" bIns="0" rtlCol="0" anchor="t">
            <a:normAutofit/>
          </a:bodyPr>
          <a:lstStyle/>
          <a:p>
            <a:pPr marL="0" indent="0" algn="l">
              <a:lnSpc>
                <a:spcPts val="5610"/>
              </a:lnSpc>
              <a:buNone/>
            </a:pPr>
            <a:r>
              <a:rPr lang="en-US" sz="2200" b="1" dirty="0">
                <a:solidFill>
                  <a:srgbClr val="FBFAF7"/>
                </a:solidFill>
                <a:latin typeface="DM Sans" pitchFamily="34" charset="0"/>
                <a:ea typeface="DM Sans" pitchFamily="34" charset="-122"/>
                <a:cs typeface="DM Sans" pitchFamily="34" charset="-120"/>
              </a:rPr>
              <a:t>27.6%</a:t>
            </a:r>
            <a:endParaRPr lang="en-US" sz="2200" dirty="0"/>
          </a:p>
        </p:txBody>
      </p:sp>
      <p:sp>
        <p:nvSpPr>
          <p:cNvPr id="5" name="Text 3"/>
          <p:cNvSpPr/>
          <p:nvPr/>
        </p:nvSpPr>
        <p:spPr>
          <a:xfrm>
            <a:off x="3956685" y="1884682"/>
            <a:ext cx="7422515" cy="711200"/>
          </a:xfrm>
          <a:custGeom>
            <a:avLst/>
            <a:gdLst/>
            <a:ahLst/>
            <a:cxnLst/>
            <a:rect l="l" t="t" r="r" b="b"/>
            <a:pathLst>
              <a:path w="7422515" h="711200">
                <a:moveTo>
                  <a:pt x="7270115" y="0"/>
                </a:moveTo>
                <a:arcTo wR="152400" hR="152400" stAng="16200000" swAng="5400000"/>
                <a:lnTo>
                  <a:pt x="7422515" y="558800"/>
                </a:lnTo>
                <a:arcTo wR="152400" hR="152400" stAng="0" swAng="5400000"/>
                <a:lnTo>
                  <a:pt x="0" y="711200"/>
                </a:lnTo>
                <a:lnTo>
                  <a:pt x="0" y="0"/>
                </a:lnTo>
                <a:close/>
              </a:path>
            </a:pathLst>
          </a:custGeom>
          <a:solidFill>
            <a:srgbClr val="D9D5F7"/>
          </a:solidFill>
          <a:ln/>
        </p:spPr>
        <p:txBody>
          <a:bodyPr wrap="square" lIns="254000" tIns="0" rIns="46565" bIns="0" rtlCol="0" anchor="t">
            <a:normAutofit/>
          </a:bodyPr>
          <a:lstStyle/>
          <a:p>
            <a:pPr marL="0" indent="0" algn="l">
              <a:lnSpc>
                <a:spcPts val="5610"/>
              </a:lnSpc>
              <a:buNone/>
            </a:pPr>
            <a:r>
              <a:rPr lang="en-US" sz="2200" b="1" dirty="0">
                <a:solidFill>
                  <a:srgbClr val="17171C"/>
                </a:solidFill>
                <a:latin typeface="DM Sans" pitchFamily="34" charset="0"/>
                <a:ea typeface="DM Sans" pitchFamily="34" charset="-122"/>
                <a:cs typeface="DM Sans" pitchFamily="34" charset="-120"/>
              </a:rPr>
              <a:t>72.4% not subscribed</a:t>
            </a:r>
            <a:endParaRPr lang="en-US" sz="2200" dirty="0"/>
          </a:p>
        </p:txBody>
      </p:sp>
      <p:sp>
        <p:nvSpPr>
          <p:cNvPr id="6" name="Text 4"/>
          <p:cNvSpPr/>
          <p:nvPr/>
        </p:nvSpPr>
        <p:spPr>
          <a:xfrm>
            <a:off x="812800" y="2849882"/>
            <a:ext cx="348821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7171C"/>
                </a:solidFill>
                <a:latin typeface="DM Sans" pitchFamily="34" charset="0"/>
                <a:ea typeface="DM Sans" pitchFamily="34" charset="-122"/>
                <a:cs typeface="DM Sans" pitchFamily="34" charset="-120"/>
              </a:rPr>
              <a:t>3,476</a:t>
            </a:r>
            <a:endParaRPr lang="en-US" sz="4800" dirty="0"/>
          </a:p>
        </p:txBody>
      </p:sp>
      <p:sp>
        <p:nvSpPr>
          <p:cNvPr id="7" name="Text 5"/>
          <p:cNvSpPr/>
          <p:nvPr/>
        </p:nvSpPr>
        <p:spPr>
          <a:xfrm>
            <a:off x="812800" y="3535682"/>
            <a:ext cx="348821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repeat buyers (more than 5 previous purchases)</a:t>
            </a:r>
            <a:endParaRPr lang="en-US" sz="1600" dirty="0"/>
          </a:p>
        </p:txBody>
      </p:sp>
      <p:sp>
        <p:nvSpPr>
          <p:cNvPr id="8" name="Text 6"/>
          <p:cNvSpPr/>
          <p:nvPr/>
        </p:nvSpPr>
        <p:spPr>
          <a:xfrm>
            <a:off x="4402614" y="2849882"/>
            <a:ext cx="348829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5B4BFF"/>
                </a:solidFill>
                <a:latin typeface="DM Sans" pitchFamily="34" charset="0"/>
                <a:ea typeface="DM Sans" pitchFamily="34" charset="-122"/>
                <a:cs typeface="DM Sans" pitchFamily="34" charset="-120"/>
              </a:rPr>
              <a:t>958</a:t>
            </a:r>
            <a:endParaRPr lang="en-US" sz="4800" dirty="0"/>
          </a:p>
        </p:txBody>
      </p:sp>
      <p:sp>
        <p:nvSpPr>
          <p:cNvPr id="9" name="Text 7"/>
          <p:cNvSpPr/>
          <p:nvPr/>
        </p:nvSpPr>
        <p:spPr>
          <a:xfrm>
            <a:off x="4402614" y="3535682"/>
            <a:ext cx="348829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are subscribers (27.6%)</a:t>
            </a:r>
            <a:endParaRPr lang="en-US" sz="1600" dirty="0"/>
          </a:p>
        </p:txBody>
      </p:sp>
      <p:sp>
        <p:nvSpPr>
          <p:cNvPr id="10" name="Text 8"/>
          <p:cNvSpPr/>
          <p:nvPr/>
        </p:nvSpPr>
        <p:spPr>
          <a:xfrm>
            <a:off x="7992507" y="2849882"/>
            <a:ext cx="348829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C8501C"/>
                </a:solidFill>
                <a:latin typeface="DM Sans" pitchFamily="34" charset="0"/>
                <a:ea typeface="DM Sans" pitchFamily="34" charset="-122"/>
                <a:cs typeface="DM Sans" pitchFamily="34" charset="-120"/>
              </a:rPr>
              <a:t>2,518</a:t>
            </a:r>
            <a:endParaRPr lang="en-US" sz="4800" dirty="0"/>
          </a:p>
        </p:txBody>
      </p:sp>
      <p:sp>
        <p:nvSpPr>
          <p:cNvPr id="11" name="Text 9"/>
          <p:cNvSpPr/>
          <p:nvPr/>
        </p:nvSpPr>
        <p:spPr>
          <a:xfrm>
            <a:off x="7992507" y="3535682"/>
            <a:ext cx="348829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are not yet subscribed (72.4%)</a:t>
            </a:r>
            <a:endParaRPr lang="en-US" sz="1600" dirty="0"/>
          </a:p>
        </p:txBody>
      </p:sp>
      <p:sp>
        <p:nvSpPr>
          <p:cNvPr id="12" name="Shape 10"/>
          <p:cNvSpPr/>
          <p:nvPr/>
        </p:nvSpPr>
        <p:spPr>
          <a:xfrm>
            <a:off x="831850" y="4358642"/>
            <a:ext cx="0" cy="670560"/>
          </a:xfrm>
          <a:prstGeom prst="line">
            <a:avLst/>
          </a:prstGeom>
          <a:noFill/>
          <a:ln w="38100">
            <a:solidFill>
              <a:srgbClr val="5B4BFF"/>
            </a:solidFill>
            <a:prstDash val="solid"/>
          </a:ln>
        </p:spPr>
        <p:txBody>
          <a:bodyPr/>
          <a:lstStyle/>
          <a:p>
            <a:endParaRPr lang="en-US"/>
          </a:p>
        </p:txBody>
      </p:sp>
      <p:sp>
        <p:nvSpPr>
          <p:cNvPr id="13" name="Text 11"/>
          <p:cNvSpPr/>
          <p:nvPr/>
        </p:nvSpPr>
        <p:spPr>
          <a:xfrm>
            <a:off x="1051560" y="4409442"/>
            <a:ext cx="1042817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171C"/>
                </a:solidFill>
                <a:latin typeface="DM Sans" pitchFamily="34" charset="0"/>
                <a:ea typeface="DM Sans" pitchFamily="34" charset="-122"/>
                <a:cs typeface="DM Sans" pitchFamily="34" charset="-120"/>
              </a:rPr>
              <a:t>Repeat buyers subscribe only slightly more often than other customers, yet they already know the brand, which makes them the easiest group to target.</a:t>
            </a:r>
            <a:endParaRPr lang="en-US" sz="1600" dirty="0"/>
          </a:p>
        </p:txBody>
      </p:sp>
      <p:sp>
        <p:nvSpPr>
          <p:cNvPr id="15" name="Text 1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B76"/>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4BFF"/>
                </a:solidFill>
                <a:latin typeface="DM Sans" pitchFamily="34" charset="0"/>
                <a:ea typeface="DM Sans" pitchFamily="34" charset="-122"/>
                <a:cs typeface="DM Sans" pitchFamily="34" charset="-120"/>
              </a:rPr>
              <a:t>DISCOUNTS</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171C"/>
                </a:solidFill>
                <a:latin typeface="DM Sans" pitchFamily="34" charset="0"/>
                <a:ea typeface="DM Sans" pitchFamily="34" charset="-122"/>
                <a:cs typeface="DM Sans" pitchFamily="34" charset="-120"/>
              </a:rPr>
              <a:t>Hats rely most on discounts</a:t>
            </a:r>
            <a:endParaRPr lang="en-US" sz="3600" dirty="0"/>
          </a:p>
        </p:txBody>
      </p:sp>
      <p:sp>
        <p:nvSpPr>
          <p:cNvPr id="4" name="Text 2"/>
          <p:cNvSpPr/>
          <p:nvPr/>
        </p:nvSpPr>
        <p:spPr>
          <a:xfrm>
            <a:off x="812800" y="1732279"/>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555F"/>
                </a:solidFill>
                <a:latin typeface="DM Sans" pitchFamily="34" charset="0"/>
                <a:ea typeface="DM Sans" pitchFamily="34" charset="-122"/>
                <a:cs typeface="DM Sans" pitchFamily="34" charset="-120"/>
              </a:rPr>
              <a:t>Top five items by discount rate, the share of purchases made with a discount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280924"/>
          <a:ext cx="5811520" cy="2301240"/>
        </p:xfrm>
        <a:graphic>
          <a:graphicData uri="http://schemas.openxmlformats.org/drawingml/2006/table">
            <a:tbl>
              <a:tblPr/>
              <a:tblGrid>
                <a:gridCol w="2324608">
                  <a:extLst>
                    <a:ext uri="{9D8B030D-6E8A-4147-A177-3AD203B41FA5}">
                      <a16:colId xmlns:a16="http://schemas.microsoft.com/office/drawing/2014/main" val="20000"/>
                    </a:ext>
                  </a:extLst>
                </a:gridCol>
                <a:gridCol w="1743456">
                  <a:extLst>
                    <a:ext uri="{9D8B030D-6E8A-4147-A177-3AD203B41FA5}">
                      <a16:colId xmlns:a16="http://schemas.microsoft.com/office/drawing/2014/main" val="20001"/>
                    </a:ext>
                  </a:extLst>
                </a:gridCol>
                <a:gridCol w="1743456">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5F3EE"/>
                          </a:solidFill>
                          <a:latin typeface="DM Sans" pitchFamily="34" charset="0"/>
                          <a:ea typeface="DM Sans" pitchFamily="34" charset="-122"/>
                          <a:cs typeface="DM Sans" pitchFamily="34" charset="-120"/>
                        </a:rPr>
                        <a:t>Item</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16161A"/>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161A"/>
                      </a:solidFill>
                      <a:prstDash val="solid"/>
                      <a:round/>
                      <a:headEnd type="none" w="med" len="med"/>
                      <a:tailEnd type="none" w="med" len="med"/>
                    </a:lnB>
                    <a:solidFill>
                      <a:srgbClr val="17171C"/>
                    </a:solidFill>
                  </a:tcPr>
                </a:tc>
                <a:tc>
                  <a:txBody>
                    <a:bodyPr/>
                    <a:lstStyle/>
                    <a:p>
                      <a:pPr marL="0" indent="0" algn="r">
                        <a:lnSpc>
                          <a:spcPts val="1960"/>
                        </a:lnSpc>
                        <a:buNone/>
                      </a:pPr>
                      <a:r>
                        <a:rPr lang="en-US" sz="1400" b="1" dirty="0">
                          <a:solidFill>
                            <a:srgbClr val="F5F3EE"/>
                          </a:solidFill>
                          <a:latin typeface="DM Sans" pitchFamily="34" charset="0"/>
                          <a:ea typeface="DM Sans" pitchFamily="34" charset="-122"/>
                          <a:cs typeface="DM Sans" pitchFamily="34" charset="-120"/>
                        </a:rPr>
                        <a:t>Purchases</a:t>
                      </a:r>
                      <a:endParaRPr lang="en-US" sz="1400" dirty="0">
                        <a:latin typeface="DM Sans" charset="0"/>
                        <a:ea typeface="DM Sans" charset="0"/>
                        <a:cs typeface="DM Sans" charset="0"/>
                      </a:endParaRPr>
                    </a:p>
                  </a:txBody>
                  <a:tcPr marL="62230" marR="62230" marT="62230" marB="62230">
                    <a:lnL w="12700" cap="flat" cmpd="sng" algn="ctr">
                      <a:solidFill>
                        <a:srgbClr val="16161A"/>
                      </a:solidFill>
                      <a:prstDash val="solid"/>
                      <a:round/>
                      <a:headEnd type="none" w="med" len="med"/>
                      <a:tailEnd type="none" w="med" len="med"/>
                    </a:lnL>
                    <a:lnR w="12700" cap="flat" cmpd="sng" algn="ctr">
                      <a:solidFill>
                        <a:srgbClr val="16161A"/>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161A"/>
                      </a:solidFill>
                      <a:prstDash val="solid"/>
                      <a:round/>
                      <a:headEnd type="none" w="med" len="med"/>
                      <a:tailEnd type="none" w="med" len="med"/>
                    </a:lnB>
                    <a:solidFill>
                      <a:srgbClr val="17171C"/>
                    </a:solidFill>
                  </a:tcPr>
                </a:tc>
                <a:tc>
                  <a:txBody>
                    <a:bodyPr/>
                    <a:lstStyle/>
                    <a:p>
                      <a:pPr marL="0" indent="0" algn="r">
                        <a:lnSpc>
                          <a:spcPts val="1960"/>
                        </a:lnSpc>
                        <a:buNone/>
                      </a:pPr>
                      <a:r>
                        <a:rPr lang="en-US" sz="1400" b="1" dirty="0">
                          <a:solidFill>
                            <a:srgbClr val="F5F3EE"/>
                          </a:solidFill>
                          <a:latin typeface="DM Sans" pitchFamily="34" charset="0"/>
                          <a:ea typeface="DM Sans" pitchFamily="34" charset="-122"/>
                          <a:cs typeface="DM Sans" pitchFamily="34" charset="-120"/>
                        </a:rPr>
                        <a:t>Discount rate</a:t>
                      </a:r>
                      <a:endParaRPr lang="en-US" sz="1400" dirty="0">
                        <a:latin typeface="DM Sans" charset="0"/>
                        <a:ea typeface="DM Sans" charset="0"/>
                        <a:cs typeface="DM Sans" charset="0"/>
                      </a:endParaRPr>
                    </a:p>
                  </a:txBody>
                  <a:tcPr marL="62230" marR="62230" marT="62230" marB="62230">
                    <a:lnL w="12700" cap="flat" cmpd="sng" algn="ctr">
                      <a:solidFill>
                        <a:srgbClr val="16161A"/>
                      </a:solidFill>
                      <a:prstDash val="solid"/>
                      <a:round/>
                      <a:headEnd type="none" w="med" len="med"/>
                      <a:tailEnd type="none" w="med" len="med"/>
                    </a:lnL>
                    <a:lnR w="12700" cap="flat" cmpd="sng" algn="ctr">
                      <a:solidFill>
                        <a:srgbClr val="16161A"/>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161A"/>
                      </a:solidFill>
                      <a:prstDash val="solid"/>
                      <a:round/>
                      <a:headEnd type="none" w="med" len="med"/>
                      <a:tailEnd type="none" w="med" len="med"/>
                    </a:lnB>
                    <a:solidFill>
                      <a:srgbClr val="17171C"/>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Hat</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61A"/>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154</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61A"/>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50.00%</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61A"/>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Sneakers</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145</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49.66%</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Coat</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161</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49.07%</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Sweater</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164</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48.17%</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Pants</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171</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47.37%</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extLst>
                  <a:ext uri="{0D108BD9-81ED-4DB2-BD59-A6C34878D82A}">
                    <a16:rowId xmlns:a16="http://schemas.microsoft.com/office/drawing/2014/main" val="10005"/>
                  </a:ext>
                </a:extLst>
              </a:tr>
            </a:tbl>
          </a:graphicData>
        </a:graphic>
      </p:graphicFrame>
      <p:sp>
        <p:nvSpPr>
          <p:cNvPr id="6" name="Shape 3"/>
          <p:cNvSpPr/>
          <p:nvPr/>
        </p:nvSpPr>
        <p:spPr>
          <a:xfrm>
            <a:off x="6888480" y="2270764"/>
            <a:ext cx="4490720" cy="2418080"/>
          </a:xfrm>
          <a:prstGeom prst="roundRect">
            <a:avLst>
              <a:gd name="adj" fmla="val 6303"/>
            </a:avLst>
          </a:prstGeom>
          <a:solidFill>
            <a:srgbClr val="17171C"/>
          </a:solidFill>
          <a:ln/>
        </p:spPr>
        <p:txBody>
          <a:bodyPr/>
          <a:lstStyle/>
          <a:p>
            <a:endParaRPr lang="en-US"/>
          </a:p>
        </p:txBody>
      </p:sp>
      <p:sp>
        <p:nvSpPr>
          <p:cNvPr id="7" name="Text 4"/>
          <p:cNvSpPr/>
          <p:nvPr/>
        </p:nvSpPr>
        <p:spPr>
          <a:xfrm>
            <a:off x="7193280" y="2575564"/>
            <a:ext cx="399755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F7A45"/>
                </a:solidFill>
                <a:latin typeface="DM Sans" pitchFamily="34" charset="0"/>
                <a:ea typeface="DM Sans" pitchFamily="34" charset="-122"/>
                <a:cs typeface="DM Sans" pitchFamily="34" charset="-120"/>
              </a:rPr>
              <a:t>43%</a:t>
            </a:r>
            <a:endParaRPr lang="en-US" sz="4800" dirty="0"/>
          </a:p>
        </p:txBody>
      </p:sp>
      <p:sp>
        <p:nvSpPr>
          <p:cNvPr id="8" name="Text 5"/>
          <p:cNvSpPr/>
          <p:nvPr/>
        </p:nvSpPr>
        <p:spPr>
          <a:xfrm>
            <a:off x="7193280" y="3286764"/>
            <a:ext cx="399755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3EE"/>
                </a:solidFill>
                <a:latin typeface="DM Sans" pitchFamily="34" charset="0"/>
                <a:ea typeface="DM Sans" pitchFamily="34" charset="-122"/>
                <a:cs typeface="DM Sans" pitchFamily="34" charset="-120"/>
              </a:rPr>
              <a:t>of all purchases used a discount (1,677 of 3,900).</a:t>
            </a:r>
            <a:endParaRPr lang="en-US" sz="1600" dirty="0"/>
          </a:p>
        </p:txBody>
      </p:sp>
      <p:sp>
        <p:nvSpPr>
          <p:cNvPr id="9" name="Text 6"/>
          <p:cNvSpPr/>
          <p:nvPr/>
        </p:nvSpPr>
        <p:spPr>
          <a:xfrm>
            <a:off x="969760" y="4803142"/>
            <a:ext cx="5664719" cy="452120"/>
          </a:xfrm>
          <a:prstGeom prst="rect">
            <a:avLst/>
          </a:prstGeom>
          <a:noFill/>
          <a:ln/>
        </p:spPr>
        <p:txBody>
          <a:bodyPr wrap="square" lIns="0" tIns="0" rIns="0" bIns="0" rtlCol="0" anchor="t">
            <a:normAutofit/>
          </a:bodyPr>
          <a:lstStyle/>
          <a:p>
            <a:pPr marL="0" indent="0" algn="l">
              <a:lnSpc>
                <a:spcPts val="1680"/>
              </a:lnSpc>
              <a:buNone/>
            </a:pPr>
            <a:r>
              <a:rPr lang="en-US" sz="1600" b="1" dirty="0">
                <a:solidFill>
                  <a:srgbClr val="55555F"/>
                </a:solidFill>
                <a:latin typeface="DM Sans" pitchFamily="34" charset="0"/>
              </a:rPr>
              <a:t>Hats rely on discounts most, with half of their purchases discounted.</a:t>
            </a:r>
          </a:p>
        </p:txBody>
      </p:sp>
      <p:sp>
        <p:nvSpPr>
          <p:cNvPr id="11" name="Text 8"/>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B76"/>
                </a:solidFill>
                <a:latin typeface="DM Sans" pitchFamily="34" charset="0"/>
                <a:ea typeface="DM Sans" pitchFamily="34" charset="-122"/>
                <a:cs typeface="DM Sans" pitchFamily="34" charset="-120"/>
              </a:rPr>
              <a:t>09</a:t>
            </a:r>
            <a:endParaRPr lang="en-US" sz="1200" dirty="0"/>
          </a:p>
        </p:txBody>
      </p:sp>
      <p:sp>
        <p:nvSpPr>
          <p:cNvPr id="13" name="Shape 10">
            <a:extLst>
              <a:ext uri="{FF2B5EF4-FFF2-40B4-BE49-F238E27FC236}">
                <a16:creationId xmlns:a16="http://schemas.microsoft.com/office/drawing/2014/main" id="{84B4906F-FFE6-DEB3-23DE-A052292DE592}"/>
              </a:ext>
            </a:extLst>
          </p:cNvPr>
          <p:cNvSpPr/>
          <p:nvPr/>
        </p:nvSpPr>
        <p:spPr>
          <a:xfrm>
            <a:off x="842606" y="4693922"/>
            <a:ext cx="0" cy="670560"/>
          </a:xfrm>
          <a:prstGeom prst="line">
            <a:avLst/>
          </a:prstGeom>
          <a:noFill/>
          <a:ln w="38100">
            <a:solidFill>
              <a:srgbClr val="5B4BFF"/>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4BFF"/>
                </a:solidFill>
                <a:latin typeface="DM Sans" pitchFamily="34" charset="0"/>
                <a:ea typeface="DM Sans" pitchFamily="34" charset="-122"/>
                <a:cs typeface="DM Sans" pitchFamily="34" charset="-120"/>
              </a:rPr>
              <a:t>DISCOUNTS</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171C"/>
                </a:solidFill>
                <a:latin typeface="DM Sans" pitchFamily="34" charset="0"/>
                <a:ea typeface="DM Sans" pitchFamily="34" charset="-122"/>
                <a:cs typeface="DM Sans" pitchFamily="34" charset="-120"/>
              </a:rPr>
              <a:t>Discounts are spread evenly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4839"/>
          <a:ext cx="6177280" cy="3451860"/>
        </p:xfrm>
        <a:graphic>
          <a:graphicData uri="http://schemas.openxmlformats.org/drawingml/2006/table">
            <a:tbl>
              <a:tblPr/>
              <a:tblGrid>
                <a:gridCol w="2470912">
                  <a:extLst>
                    <a:ext uri="{9D8B030D-6E8A-4147-A177-3AD203B41FA5}">
                      <a16:colId xmlns:a16="http://schemas.microsoft.com/office/drawing/2014/main" val="20000"/>
                    </a:ext>
                  </a:extLst>
                </a:gridCol>
                <a:gridCol w="1853184">
                  <a:extLst>
                    <a:ext uri="{9D8B030D-6E8A-4147-A177-3AD203B41FA5}">
                      <a16:colId xmlns:a16="http://schemas.microsoft.com/office/drawing/2014/main" val="20001"/>
                    </a:ext>
                  </a:extLst>
                </a:gridCol>
                <a:gridCol w="1853184">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F5F3EE"/>
                          </a:solidFill>
                          <a:latin typeface="DM Sans" pitchFamily="34" charset="0"/>
                          <a:ea typeface="DM Sans" pitchFamily="34" charset="-122"/>
                          <a:cs typeface="DM Sans" pitchFamily="34" charset="-120"/>
                        </a:rPr>
                        <a:t>Purchase frequency</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16161A"/>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161A"/>
                      </a:solidFill>
                      <a:prstDash val="solid"/>
                      <a:round/>
                      <a:headEnd type="none" w="med" len="med"/>
                      <a:tailEnd type="none" w="med" len="med"/>
                    </a:lnB>
                    <a:solidFill>
                      <a:srgbClr val="17171C"/>
                    </a:solidFill>
                  </a:tcPr>
                </a:tc>
                <a:tc>
                  <a:txBody>
                    <a:bodyPr/>
                    <a:lstStyle/>
                    <a:p>
                      <a:pPr marL="0" indent="0" algn="r">
                        <a:lnSpc>
                          <a:spcPts val="1960"/>
                        </a:lnSpc>
                        <a:buNone/>
                      </a:pPr>
                      <a:r>
                        <a:rPr lang="en-US" sz="1400" b="1" dirty="0">
                          <a:solidFill>
                            <a:srgbClr val="F5F3EE"/>
                          </a:solidFill>
                          <a:latin typeface="DM Sans" pitchFamily="34" charset="0"/>
                          <a:ea typeface="DM Sans" pitchFamily="34" charset="-122"/>
                          <a:cs typeface="DM Sans" pitchFamily="34" charset="-120"/>
                        </a:rPr>
                        <a:t>Customers</a:t>
                      </a:r>
                      <a:endParaRPr lang="en-US" sz="1400" dirty="0">
                        <a:latin typeface="DM Sans" charset="0"/>
                        <a:ea typeface="DM Sans" charset="0"/>
                        <a:cs typeface="DM Sans" charset="0"/>
                      </a:endParaRPr>
                    </a:p>
                  </a:txBody>
                  <a:tcPr marL="62230" marR="62230" marT="62230" marB="62230">
                    <a:lnL w="12700" cap="flat" cmpd="sng" algn="ctr">
                      <a:solidFill>
                        <a:srgbClr val="16161A"/>
                      </a:solidFill>
                      <a:prstDash val="solid"/>
                      <a:round/>
                      <a:headEnd type="none" w="med" len="med"/>
                      <a:tailEnd type="none" w="med" len="med"/>
                    </a:lnL>
                    <a:lnR w="12700" cap="flat" cmpd="sng" algn="ctr">
                      <a:solidFill>
                        <a:srgbClr val="16161A"/>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161A"/>
                      </a:solidFill>
                      <a:prstDash val="solid"/>
                      <a:round/>
                      <a:headEnd type="none" w="med" len="med"/>
                      <a:tailEnd type="none" w="med" len="med"/>
                    </a:lnB>
                    <a:solidFill>
                      <a:srgbClr val="17171C"/>
                    </a:solidFill>
                  </a:tcPr>
                </a:tc>
                <a:tc>
                  <a:txBody>
                    <a:bodyPr/>
                    <a:lstStyle/>
                    <a:p>
                      <a:pPr marL="0" indent="0" algn="r">
                        <a:lnSpc>
                          <a:spcPts val="1960"/>
                        </a:lnSpc>
                        <a:buNone/>
                      </a:pPr>
                      <a:r>
                        <a:rPr lang="en-US" sz="1400" b="1" dirty="0">
                          <a:solidFill>
                            <a:srgbClr val="F5F3EE"/>
                          </a:solidFill>
                          <a:latin typeface="DM Sans" pitchFamily="34" charset="0"/>
                          <a:ea typeface="DM Sans" pitchFamily="34" charset="-122"/>
                          <a:cs typeface="DM Sans" pitchFamily="34" charset="-120"/>
                        </a:rPr>
                        <a:t>Discounts</a:t>
                      </a:r>
                      <a:endParaRPr lang="en-US" sz="1400" dirty="0">
                        <a:latin typeface="DM Sans" charset="0"/>
                        <a:ea typeface="DM Sans" charset="0"/>
                        <a:cs typeface="DM Sans" charset="0"/>
                      </a:endParaRPr>
                    </a:p>
                  </a:txBody>
                  <a:tcPr marL="62230" marR="62230" marT="62230" marB="62230">
                    <a:lnL w="12700" cap="flat" cmpd="sng" algn="ctr">
                      <a:solidFill>
                        <a:srgbClr val="16161A"/>
                      </a:solidFill>
                      <a:prstDash val="solid"/>
                      <a:round/>
                      <a:headEnd type="none" w="med" len="med"/>
                      <a:tailEnd type="none" w="med" len="med"/>
                    </a:lnL>
                    <a:lnR w="12700" cap="flat" cmpd="sng" algn="ctr">
                      <a:solidFill>
                        <a:srgbClr val="16161A"/>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161A"/>
                      </a:solidFill>
                      <a:prstDash val="solid"/>
                      <a:round/>
                      <a:headEnd type="none" w="med" len="med"/>
                      <a:tailEnd type="none" w="med" len="med"/>
                    </a:lnB>
                    <a:solidFill>
                      <a:srgbClr val="17171C"/>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Weekly</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61A"/>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539</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61A"/>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234</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6161A"/>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Quarterly</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563</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241</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Monthly</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553</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237</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Fortnightly</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542</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243</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Every 3 Months</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584</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258</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Bi-Weekly</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547</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226</a:t>
                      </a:r>
                      <a:endParaRPr lang="en-US" sz="1400" dirty="0">
                        <a:latin typeface="DM Sans" charset="0"/>
                        <a:ea typeface="DM Sans" charset="0"/>
                        <a:cs typeface="DM Sans" charset="0"/>
                      </a:endParaRPr>
                    </a:p>
                  </a:txBody>
                  <a:tcPr marL="62230" marR="62230" marT="62230" marB="62230">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Annually</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572</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238</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extLst>
                  <a:ext uri="{0D108BD9-81ED-4DB2-BD59-A6C34878D82A}">
                    <a16:rowId xmlns:a16="http://schemas.microsoft.com/office/drawing/2014/main" val="10007"/>
                  </a:ext>
                </a:extLst>
              </a:tr>
              <a:tr h="383540">
                <a:tc>
                  <a:txBody>
                    <a:bodyPr/>
                    <a:lstStyle/>
                    <a:p>
                      <a:pPr marL="0" indent="0">
                        <a:lnSpc>
                          <a:spcPts val="1960"/>
                        </a:lnSpc>
                        <a:buNone/>
                      </a:pPr>
                      <a:r>
                        <a:rPr lang="en-US" sz="1400" dirty="0">
                          <a:solidFill>
                            <a:srgbClr val="17171C"/>
                          </a:solidFill>
                          <a:latin typeface="DM Sans" pitchFamily="34" charset="0"/>
                          <a:ea typeface="DM Sans" pitchFamily="34" charset="-122"/>
                          <a:cs typeface="DM Sans" pitchFamily="34" charset="-120"/>
                        </a:rPr>
                        <a:t>Total</a:t>
                      </a:r>
                      <a:endParaRPr lang="en-US" sz="1400" dirty="0">
                        <a:latin typeface="DM Sans" charset="0"/>
                        <a:ea typeface="DM Sans" charset="0"/>
                        <a:cs typeface="DM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AEAB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AEABC5"/>
                      </a:solidFill>
                      <a:prstDash val="solid"/>
                      <a:round/>
                      <a:headEnd type="none" w="med" len="med"/>
                      <a:tailEnd type="none" w="med" len="med"/>
                    </a:lnB>
                    <a:solidFill>
                      <a:srgbClr val="D9D5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3,900</a:t>
                      </a:r>
                      <a:endParaRPr lang="en-US" sz="1400" dirty="0">
                        <a:latin typeface="DM Sans" charset="0"/>
                        <a:ea typeface="DM Sans" charset="0"/>
                        <a:cs typeface="DM Sans" charset="0"/>
                      </a:endParaRPr>
                    </a:p>
                  </a:txBody>
                  <a:tcPr marL="62230" marR="62230" marT="62230" marB="62230">
                    <a:lnL w="12700" cap="flat" cmpd="sng" algn="ctr">
                      <a:solidFill>
                        <a:srgbClr val="AEABC5"/>
                      </a:solidFill>
                      <a:prstDash val="solid"/>
                      <a:round/>
                      <a:headEnd type="none" w="med" len="med"/>
                      <a:tailEnd type="none" w="med" len="med"/>
                    </a:lnL>
                    <a:lnR w="12700" cap="flat" cmpd="sng" algn="ctr">
                      <a:solidFill>
                        <a:srgbClr val="AEAB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AEABC5"/>
                      </a:solidFill>
                      <a:prstDash val="solid"/>
                      <a:round/>
                      <a:headEnd type="none" w="med" len="med"/>
                      <a:tailEnd type="none" w="med" len="med"/>
                    </a:lnB>
                    <a:solidFill>
                      <a:srgbClr val="D9D5F7"/>
                    </a:solidFill>
                  </a:tcPr>
                </a:tc>
                <a:tc>
                  <a:txBody>
                    <a:bodyPr/>
                    <a:lstStyle/>
                    <a:p>
                      <a:pPr marL="0" indent="0" algn="r">
                        <a:lnSpc>
                          <a:spcPts val="1960"/>
                        </a:lnSpc>
                        <a:buNone/>
                      </a:pPr>
                      <a:r>
                        <a:rPr lang="en-US" sz="1400" dirty="0">
                          <a:solidFill>
                            <a:srgbClr val="17171C"/>
                          </a:solidFill>
                          <a:latin typeface="DM Sans" pitchFamily="34" charset="0"/>
                          <a:ea typeface="DM Sans" pitchFamily="34" charset="-122"/>
                          <a:cs typeface="DM Sans" pitchFamily="34" charset="-120"/>
                        </a:rPr>
                        <a:t>1,677</a:t>
                      </a:r>
                      <a:endParaRPr lang="en-US" sz="1400" dirty="0">
                        <a:latin typeface="DM Sans" charset="0"/>
                        <a:ea typeface="DM Sans" charset="0"/>
                        <a:cs typeface="DM Sans" charset="0"/>
                      </a:endParaRPr>
                    </a:p>
                  </a:txBody>
                  <a:tcPr marL="62230" marR="62230" marT="62230" marB="62230">
                    <a:lnL w="12700" cap="flat" cmpd="sng" algn="ctr">
                      <a:solidFill>
                        <a:srgbClr val="AEABC5"/>
                      </a:solidFill>
                      <a:prstDash val="solid"/>
                      <a:round/>
                      <a:headEnd type="none" w="med" len="med"/>
                      <a:tailEnd type="none" w="med" len="med"/>
                    </a:lnL>
                    <a:lnR w="12700" cap="flat" cmpd="sng" algn="ctr">
                      <a:solidFill>
                        <a:srgbClr val="AEAB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AEABC5"/>
                      </a:solidFill>
                      <a:prstDash val="solid"/>
                      <a:round/>
                      <a:headEnd type="none" w="med" len="med"/>
                      <a:tailEnd type="none" w="med" len="med"/>
                    </a:lnB>
                    <a:solidFill>
                      <a:srgbClr val="D9D5F7"/>
                    </a:solidFill>
                  </a:tcPr>
                </a:tc>
                <a:extLst>
                  <a:ext uri="{0D108BD9-81ED-4DB2-BD59-A6C34878D82A}">
                    <a16:rowId xmlns:a16="http://schemas.microsoft.com/office/drawing/2014/main" val="10008"/>
                  </a:ext>
                </a:extLst>
              </a:tr>
            </a:tbl>
          </a:graphicData>
        </a:graphic>
      </p:graphicFrame>
      <p:sp>
        <p:nvSpPr>
          <p:cNvPr id="5" name="Shape 2"/>
          <p:cNvSpPr/>
          <p:nvPr/>
        </p:nvSpPr>
        <p:spPr>
          <a:xfrm>
            <a:off x="7257415" y="1887854"/>
            <a:ext cx="4118610" cy="1634490"/>
          </a:xfrm>
          <a:prstGeom prst="roundRect">
            <a:avLst>
              <a:gd name="adj" fmla="val 9130"/>
            </a:avLst>
          </a:prstGeom>
          <a:solidFill>
            <a:srgbClr val="FBFAF7"/>
          </a:solidFill>
          <a:ln w="6350">
            <a:solidFill>
              <a:srgbClr val="E4E1D8"/>
            </a:solidFill>
            <a:prstDash val="solid"/>
          </a:ln>
        </p:spPr>
        <p:txBody>
          <a:bodyPr/>
          <a:lstStyle/>
          <a:p>
            <a:endParaRPr lang="en-US"/>
          </a:p>
        </p:txBody>
      </p:sp>
      <p:sp>
        <p:nvSpPr>
          <p:cNvPr id="6" name="Text 3"/>
          <p:cNvSpPr/>
          <p:nvPr/>
        </p:nvSpPr>
        <p:spPr>
          <a:xfrm>
            <a:off x="7487920" y="2118364"/>
            <a:ext cx="3767328"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5B4BFF"/>
                </a:solidFill>
                <a:latin typeface="DM Sans" pitchFamily="34" charset="0"/>
                <a:ea typeface="DM Sans" pitchFamily="34" charset="-122"/>
                <a:cs typeface="DM Sans" pitchFamily="34" charset="-120"/>
              </a:rPr>
              <a:t>839</a:t>
            </a:r>
            <a:endParaRPr lang="en-US" sz="3600" dirty="0"/>
          </a:p>
        </p:txBody>
      </p:sp>
      <p:sp>
        <p:nvSpPr>
          <p:cNvPr id="7" name="Text 4"/>
          <p:cNvSpPr/>
          <p:nvPr/>
        </p:nvSpPr>
        <p:spPr>
          <a:xfrm>
            <a:off x="7487920" y="2651764"/>
            <a:ext cx="3767328"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customers used a discount and still spent above the average, so discounts do not always mean lower-value purchases.</a:t>
            </a:r>
            <a:endParaRPr lang="en-US" sz="1200" dirty="0"/>
          </a:p>
        </p:txBody>
      </p:sp>
      <p:sp>
        <p:nvSpPr>
          <p:cNvPr id="8" name="Shape 5"/>
          <p:cNvSpPr/>
          <p:nvPr/>
        </p:nvSpPr>
        <p:spPr>
          <a:xfrm>
            <a:off x="7257415" y="3731896"/>
            <a:ext cx="4118610" cy="1634490"/>
          </a:xfrm>
          <a:prstGeom prst="roundRect">
            <a:avLst>
              <a:gd name="adj" fmla="val 9130"/>
            </a:avLst>
          </a:prstGeom>
          <a:solidFill>
            <a:srgbClr val="FBFAF7"/>
          </a:solidFill>
          <a:ln w="6350">
            <a:solidFill>
              <a:srgbClr val="E4E1D8"/>
            </a:solidFill>
            <a:prstDash val="solid"/>
          </a:ln>
        </p:spPr>
        <p:txBody>
          <a:bodyPr/>
          <a:lstStyle/>
          <a:p>
            <a:endParaRPr lang="en-US"/>
          </a:p>
        </p:txBody>
      </p:sp>
      <p:sp>
        <p:nvSpPr>
          <p:cNvPr id="9" name="Text 6"/>
          <p:cNvSpPr/>
          <p:nvPr/>
        </p:nvSpPr>
        <p:spPr>
          <a:xfrm>
            <a:off x="7487920" y="3962400"/>
            <a:ext cx="3767328"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C8501C"/>
                </a:solidFill>
                <a:latin typeface="DM Sans" pitchFamily="34" charset="0"/>
                <a:ea typeface="DM Sans" pitchFamily="34" charset="-122"/>
                <a:cs typeface="DM Sans" pitchFamily="34" charset="-120"/>
              </a:rPr>
              <a:t>14–15%</a:t>
            </a:r>
            <a:endParaRPr lang="en-US" sz="3600" dirty="0"/>
          </a:p>
        </p:txBody>
      </p:sp>
      <p:sp>
        <p:nvSpPr>
          <p:cNvPr id="10" name="Text 7"/>
          <p:cNvSpPr/>
          <p:nvPr/>
        </p:nvSpPr>
        <p:spPr>
          <a:xfrm>
            <a:off x="7487920" y="4495800"/>
            <a:ext cx="3767328"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F"/>
                </a:solidFill>
                <a:latin typeface="DM Sans" pitchFamily="34" charset="0"/>
                <a:ea typeface="DM Sans" pitchFamily="34" charset="-122"/>
                <a:cs typeface="DM Sans" pitchFamily="34" charset="-120"/>
              </a:rPr>
              <a:t>of customers sit in each of the seven frequency levels, and each level holds a similar share of the discounts.</a:t>
            </a:r>
            <a:endParaRPr lang="en-US" sz="1200" dirty="0"/>
          </a:p>
        </p:txBody>
      </p:sp>
      <p:sp>
        <p:nvSpPr>
          <p:cNvPr id="12" name="Text 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B76"/>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2"/>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79"/>
              </a:lnSpc>
              <a:buNone/>
            </a:pPr>
            <a:r>
              <a:rPr lang="en-US" sz="1200" b="1" spc="100" dirty="0">
                <a:solidFill>
                  <a:srgbClr val="5B4BFF"/>
                </a:solidFill>
                <a:latin typeface="DM Sans" pitchFamily="34" charset="0"/>
                <a:ea typeface="DM Sans" pitchFamily="34" charset="-122"/>
                <a:cs typeface="DM Sans" pitchFamily="34" charset="-120"/>
              </a:rPr>
              <a:t>PRODUCTS</a:t>
            </a:r>
            <a:endParaRPr lang="en-US" sz="1200" dirty="0"/>
          </a:p>
        </p:txBody>
      </p:sp>
      <p:sp>
        <p:nvSpPr>
          <p:cNvPr id="3" name="Text 3"/>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7171C"/>
                </a:solidFill>
                <a:latin typeface="DM Sans" pitchFamily="34" charset="0"/>
                <a:ea typeface="DM Sans" pitchFamily="34" charset="-122"/>
                <a:cs typeface="DM Sans" pitchFamily="34" charset="-120"/>
              </a:rPr>
              <a:t>Top-rated products are closely matched</a:t>
            </a:r>
            <a:endParaRPr lang="en-US" sz="3600" dirty="0"/>
          </a:p>
        </p:txBody>
      </p:sp>
      <p:sp>
        <p:nvSpPr>
          <p:cNvPr id="4" name="Text 4"/>
          <p:cNvSpPr/>
          <p:nvPr/>
        </p:nvSpPr>
        <p:spPr>
          <a:xfrm>
            <a:off x="812800" y="1732279"/>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0" dirty="0">
                <a:solidFill>
                  <a:srgbClr val="55555F"/>
                </a:solidFill>
                <a:latin typeface="DM Sans" pitchFamily="34" charset="0"/>
                <a:ea typeface="DM Sans" pitchFamily="34" charset="-122"/>
                <a:cs typeface="DM Sans" pitchFamily="34" charset="-120"/>
              </a:rPr>
              <a:t>Average review rating out of 5, top five products (all customers average 3.75)</a:t>
            </a:r>
            <a:endParaRPr lang="en-US" sz="1600" dirty="0"/>
          </a:p>
        </p:txBody>
      </p:sp>
      <p:sp>
        <p:nvSpPr>
          <p:cNvPr id="5" name="Text 5"/>
          <p:cNvSpPr/>
          <p:nvPr/>
        </p:nvSpPr>
        <p:spPr>
          <a:xfrm>
            <a:off x="812800" y="2240280"/>
            <a:ext cx="1280160" cy="384048"/>
          </a:xfrm>
          <a:prstGeom prst="rect">
            <a:avLst/>
          </a:prstGeom>
          <a:noFill/>
          <a:ln/>
        </p:spPr>
        <p:txBody>
          <a:bodyPr wrap="square" lIns="0" tIns="0" rIns="0" bIns="0" rtlCol="0" anchor="ctr">
            <a:normAutofit/>
          </a:bodyPr>
          <a:lstStyle/>
          <a:p>
            <a:pPr marL="0" indent="0" algn="l">
              <a:lnSpc>
                <a:spcPts val="1600"/>
              </a:lnSpc>
              <a:buNone/>
            </a:pPr>
            <a:r>
              <a:rPr lang="en-US" sz="1600" b="1" dirty="0">
                <a:solidFill>
                  <a:srgbClr val="17171C"/>
                </a:solidFill>
                <a:latin typeface="DM Sans" pitchFamily="34" charset="0"/>
                <a:ea typeface="DM Sans" pitchFamily="34" charset="-122"/>
                <a:cs typeface="DM Sans" pitchFamily="34" charset="-120"/>
              </a:rPr>
              <a:t>Gloves</a:t>
            </a:r>
            <a:endParaRPr lang="en-US" sz="1600" dirty="0"/>
          </a:p>
        </p:txBody>
      </p:sp>
      <p:sp>
        <p:nvSpPr>
          <p:cNvPr id="6" name="Bar 6"/>
          <p:cNvSpPr/>
          <p:nvPr/>
        </p:nvSpPr>
        <p:spPr>
          <a:xfrm>
            <a:off x="2184400" y="2240280"/>
            <a:ext cx="6070884" cy="384048"/>
          </a:xfrm>
          <a:prstGeom prst="roundRect">
            <a:avLst>
              <a:gd name="adj" fmla="val 30000"/>
            </a:avLst>
          </a:prstGeom>
          <a:solidFill>
            <a:srgbClr val="5B4BFF"/>
          </a:solidFill>
          <a:ln/>
        </p:spPr>
        <p:txBody>
          <a:bodyPr/>
          <a:lstStyle/>
          <a:p>
            <a:endParaRPr lang="en-US"/>
          </a:p>
        </p:txBody>
      </p:sp>
      <p:sp>
        <p:nvSpPr>
          <p:cNvPr id="7" name="Text 7"/>
          <p:cNvSpPr/>
          <p:nvPr/>
        </p:nvSpPr>
        <p:spPr>
          <a:xfrm>
            <a:off x="8392444" y="2240280"/>
            <a:ext cx="822960" cy="384048"/>
          </a:xfrm>
          <a:prstGeom prst="rect">
            <a:avLst/>
          </a:prstGeom>
          <a:noFill/>
          <a:ln/>
        </p:spPr>
        <p:txBody>
          <a:bodyPr wrap="square" lIns="0" tIns="0" rIns="0" bIns="0" rtlCol="0" anchor="ctr">
            <a:normAutofit/>
          </a:bodyPr>
          <a:lstStyle/>
          <a:p>
            <a:pPr marL="0" indent="0" algn="l">
              <a:lnSpc>
                <a:spcPts val="1600"/>
              </a:lnSpc>
              <a:buNone/>
            </a:pPr>
            <a:r>
              <a:rPr lang="en-US" sz="1600" b="1" dirty="0">
                <a:solidFill>
                  <a:srgbClr val="17171C"/>
                </a:solidFill>
                <a:latin typeface="DM Sans" pitchFamily="34" charset="0"/>
                <a:ea typeface="DM Sans" pitchFamily="34" charset="-122"/>
                <a:cs typeface="DM Sans" pitchFamily="34" charset="-120"/>
              </a:rPr>
              <a:t>3.86</a:t>
            </a:r>
            <a:endParaRPr lang="en-US" sz="1600" dirty="0"/>
          </a:p>
        </p:txBody>
      </p:sp>
      <p:sp>
        <p:nvSpPr>
          <p:cNvPr id="8" name="Text 8"/>
          <p:cNvSpPr/>
          <p:nvPr/>
        </p:nvSpPr>
        <p:spPr>
          <a:xfrm>
            <a:off x="812800" y="2788920"/>
            <a:ext cx="1280160" cy="384048"/>
          </a:xfrm>
          <a:prstGeom prst="rect">
            <a:avLst/>
          </a:prstGeom>
          <a:noFill/>
          <a:ln/>
        </p:spPr>
        <p:txBody>
          <a:bodyPr wrap="square" lIns="0" tIns="0" rIns="0" bIns="0" rtlCol="0" anchor="ctr">
            <a:normAutofit/>
          </a:bodyPr>
          <a:lstStyle/>
          <a:p>
            <a:pPr marL="0" indent="0" algn="l">
              <a:lnSpc>
                <a:spcPts val="1600"/>
              </a:lnSpc>
              <a:buNone/>
            </a:pPr>
            <a:r>
              <a:rPr lang="en-US" sz="1600" b="1" dirty="0">
                <a:solidFill>
                  <a:srgbClr val="17171C"/>
                </a:solidFill>
                <a:latin typeface="DM Sans" pitchFamily="34" charset="0"/>
                <a:ea typeface="DM Sans" pitchFamily="34" charset="-122"/>
                <a:cs typeface="DM Sans" pitchFamily="34" charset="-120"/>
              </a:rPr>
              <a:t>Sandals</a:t>
            </a:r>
            <a:endParaRPr lang="en-US" sz="1600" dirty="0"/>
          </a:p>
        </p:txBody>
      </p:sp>
      <p:sp>
        <p:nvSpPr>
          <p:cNvPr id="9" name="Bar 9"/>
          <p:cNvSpPr/>
          <p:nvPr/>
        </p:nvSpPr>
        <p:spPr>
          <a:xfrm>
            <a:off x="2184400" y="2788920"/>
            <a:ext cx="6039429" cy="384048"/>
          </a:xfrm>
          <a:prstGeom prst="roundRect">
            <a:avLst>
              <a:gd name="adj" fmla="val 30000"/>
            </a:avLst>
          </a:prstGeom>
          <a:solidFill>
            <a:srgbClr val="A9A2F5"/>
          </a:solidFill>
          <a:ln/>
        </p:spPr>
        <p:txBody>
          <a:bodyPr/>
          <a:lstStyle/>
          <a:p>
            <a:endParaRPr lang="en-US"/>
          </a:p>
        </p:txBody>
      </p:sp>
      <p:sp>
        <p:nvSpPr>
          <p:cNvPr id="10" name="Text 10"/>
          <p:cNvSpPr/>
          <p:nvPr/>
        </p:nvSpPr>
        <p:spPr>
          <a:xfrm>
            <a:off x="8360989" y="2788920"/>
            <a:ext cx="822960" cy="384048"/>
          </a:xfrm>
          <a:prstGeom prst="rect">
            <a:avLst/>
          </a:prstGeom>
          <a:noFill/>
          <a:ln/>
        </p:spPr>
        <p:txBody>
          <a:bodyPr wrap="square" lIns="0" tIns="0" rIns="0" bIns="0" rtlCol="0" anchor="ctr">
            <a:normAutofit/>
          </a:bodyPr>
          <a:lstStyle/>
          <a:p>
            <a:pPr marL="0" indent="0" algn="l">
              <a:lnSpc>
                <a:spcPts val="1600"/>
              </a:lnSpc>
              <a:buNone/>
            </a:pPr>
            <a:r>
              <a:rPr lang="en-US" sz="1600" b="1" dirty="0">
                <a:solidFill>
                  <a:srgbClr val="17171C"/>
                </a:solidFill>
                <a:latin typeface="DM Sans" pitchFamily="34" charset="0"/>
                <a:ea typeface="DM Sans" pitchFamily="34" charset="-122"/>
                <a:cs typeface="DM Sans" pitchFamily="34" charset="-120"/>
              </a:rPr>
              <a:t>3.84</a:t>
            </a:r>
            <a:endParaRPr lang="en-US" sz="1600" dirty="0"/>
          </a:p>
        </p:txBody>
      </p:sp>
      <p:sp>
        <p:nvSpPr>
          <p:cNvPr id="11" name="Text 11"/>
          <p:cNvSpPr/>
          <p:nvPr/>
        </p:nvSpPr>
        <p:spPr>
          <a:xfrm>
            <a:off x="812800" y="3337560"/>
            <a:ext cx="1280160" cy="384048"/>
          </a:xfrm>
          <a:prstGeom prst="rect">
            <a:avLst/>
          </a:prstGeom>
          <a:noFill/>
          <a:ln/>
        </p:spPr>
        <p:txBody>
          <a:bodyPr wrap="square" lIns="0" tIns="0" rIns="0" bIns="0" rtlCol="0" anchor="ctr">
            <a:normAutofit/>
          </a:bodyPr>
          <a:lstStyle/>
          <a:p>
            <a:pPr marL="0" indent="0" algn="l">
              <a:lnSpc>
                <a:spcPts val="1600"/>
              </a:lnSpc>
              <a:buNone/>
            </a:pPr>
            <a:r>
              <a:rPr lang="en-US" sz="1600" b="1" dirty="0">
                <a:solidFill>
                  <a:srgbClr val="17171C"/>
                </a:solidFill>
                <a:latin typeface="DM Sans" pitchFamily="34" charset="0"/>
                <a:ea typeface="DM Sans" pitchFamily="34" charset="-122"/>
                <a:cs typeface="DM Sans" pitchFamily="34" charset="-120"/>
              </a:rPr>
              <a:t>Boots</a:t>
            </a:r>
            <a:endParaRPr lang="en-US" sz="1600" dirty="0"/>
          </a:p>
        </p:txBody>
      </p:sp>
      <p:sp>
        <p:nvSpPr>
          <p:cNvPr id="12" name="Bar 12"/>
          <p:cNvSpPr/>
          <p:nvPr/>
        </p:nvSpPr>
        <p:spPr>
          <a:xfrm>
            <a:off x="2184400" y="3337560"/>
            <a:ext cx="5992246" cy="384048"/>
          </a:xfrm>
          <a:prstGeom prst="roundRect">
            <a:avLst>
              <a:gd name="adj" fmla="val 30000"/>
            </a:avLst>
          </a:prstGeom>
          <a:solidFill>
            <a:srgbClr val="A9A2F5"/>
          </a:solidFill>
          <a:ln/>
        </p:spPr>
        <p:txBody>
          <a:bodyPr/>
          <a:lstStyle/>
          <a:p>
            <a:endParaRPr lang="en-US"/>
          </a:p>
        </p:txBody>
      </p:sp>
      <p:sp>
        <p:nvSpPr>
          <p:cNvPr id="13" name="Text 13"/>
          <p:cNvSpPr/>
          <p:nvPr/>
        </p:nvSpPr>
        <p:spPr>
          <a:xfrm>
            <a:off x="8313806" y="3337560"/>
            <a:ext cx="822960" cy="384048"/>
          </a:xfrm>
          <a:prstGeom prst="rect">
            <a:avLst/>
          </a:prstGeom>
          <a:noFill/>
          <a:ln/>
        </p:spPr>
        <p:txBody>
          <a:bodyPr wrap="square" lIns="0" tIns="0" rIns="0" bIns="0" rtlCol="0" anchor="ctr">
            <a:normAutofit/>
          </a:bodyPr>
          <a:lstStyle/>
          <a:p>
            <a:pPr marL="0" indent="0" algn="l">
              <a:lnSpc>
                <a:spcPts val="1600"/>
              </a:lnSpc>
              <a:buNone/>
            </a:pPr>
            <a:r>
              <a:rPr lang="en-US" sz="1600" b="1" dirty="0">
                <a:solidFill>
                  <a:srgbClr val="17171C"/>
                </a:solidFill>
                <a:latin typeface="DM Sans" pitchFamily="34" charset="0"/>
                <a:ea typeface="DM Sans" pitchFamily="34" charset="-122"/>
                <a:cs typeface="DM Sans" pitchFamily="34" charset="-120"/>
              </a:rPr>
              <a:t>3.81</a:t>
            </a:r>
            <a:endParaRPr lang="en-US" sz="1600" dirty="0"/>
          </a:p>
        </p:txBody>
      </p:sp>
      <p:sp>
        <p:nvSpPr>
          <p:cNvPr id="14" name="Text 14"/>
          <p:cNvSpPr/>
          <p:nvPr/>
        </p:nvSpPr>
        <p:spPr>
          <a:xfrm>
            <a:off x="812800" y="3886200"/>
            <a:ext cx="1280160" cy="384048"/>
          </a:xfrm>
          <a:prstGeom prst="rect">
            <a:avLst/>
          </a:prstGeom>
          <a:noFill/>
          <a:ln/>
        </p:spPr>
        <p:txBody>
          <a:bodyPr wrap="square" lIns="0" tIns="0" rIns="0" bIns="0" rtlCol="0" anchor="ctr">
            <a:normAutofit/>
          </a:bodyPr>
          <a:lstStyle/>
          <a:p>
            <a:pPr marL="0" indent="0" algn="l">
              <a:lnSpc>
                <a:spcPts val="1600"/>
              </a:lnSpc>
              <a:buNone/>
            </a:pPr>
            <a:r>
              <a:rPr lang="en-US" sz="1600" b="1" dirty="0">
                <a:solidFill>
                  <a:srgbClr val="17171C"/>
                </a:solidFill>
                <a:latin typeface="DM Sans" pitchFamily="34" charset="0"/>
                <a:ea typeface="DM Sans" pitchFamily="34" charset="-122"/>
                <a:cs typeface="DM Sans" pitchFamily="34" charset="-120"/>
              </a:rPr>
              <a:t>Hat</a:t>
            </a:r>
            <a:endParaRPr lang="en-US" sz="1600" dirty="0"/>
          </a:p>
        </p:txBody>
      </p:sp>
      <p:sp>
        <p:nvSpPr>
          <p:cNvPr id="15" name="Bar 15"/>
          <p:cNvSpPr/>
          <p:nvPr/>
        </p:nvSpPr>
        <p:spPr>
          <a:xfrm>
            <a:off x="2184400" y="3886200"/>
            <a:ext cx="5992246" cy="384048"/>
          </a:xfrm>
          <a:prstGeom prst="roundRect">
            <a:avLst>
              <a:gd name="adj" fmla="val 30000"/>
            </a:avLst>
          </a:prstGeom>
          <a:solidFill>
            <a:srgbClr val="A9A2F5"/>
          </a:solidFill>
          <a:ln/>
        </p:spPr>
        <p:txBody>
          <a:bodyPr/>
          <a:lstStyle/>
          <a:p>
            <a:endParaRPr lang="en-US"/>
          </a:p>
        </p:txBody>
      </p:sp>
      <p:sp>
        <p:nvSpPr>
          <p:cNvPr id="16" name="Text 16"/>
          <p:cNvSpPr/>
          <p:nvPr/>
        </p:nvSpPr>
        <p:spPr>
          <a:xfrm>
            <a:off x="8313806" y="3886200"/>
            <a:ext cx="822960" cy="384048"/>
          </a:xfrm>
          <a:prstGeom prst="rect">
            <a:avLst/>
          </a:prstGeom>
          <a:noFill/>
          <a:ln/>
        </p:spPr>
        <p:txBody>
          <a:bodyPr wrap="square" lIns="0" tIns="0" rIns="0" bIns="0" rtlCol="0" anchor="ctr">
            <a:normAutofit/>
          </a:bodyPr>
          <a:lstStyle/>
          <a:p>
            <a:pPr marL="0" indent="0" algn="l">
              <a:lnSpc>
                <a:spcPts val="1600"/>
              </a:lnSpc>
              <a:buNone/>
            </a:pPr>
            <a:r>
              <a:rPr lang="en-US" sz="1600" b="1" dirty="0">
                <a:solidFill>
                  <a:srgbClr val="17171C"/>
                </a:solidFill>
                <a:latin typeface="DM Sans" pitchFamily="34" charset="0"/>
                <a:ea typeface="DM Sans" pitchFamily="34" charset="-122"/>
                <a:cs typeface="DM Sans" pitchFamily="34" charset="-120"/>
              </a:rPr>
              <a:t>3.81</a:t>
            </a:r>
            <a:endParaRPr lang="en-US" sz="1600" dirty="0"/>
          </a:p>
        </p:txBody>
      </p:sp>
      <p:sp>
        <p:nvSpPr>
          <p:cNvPr id="17" name="Text 17"/>
          <p:cNvSpPr/>
          <p:nvPr/>
        </p:nvSpPr>
        <p:spPr>
          <a:xfrm>
            <a:off x="812800" y="4434840"/>
            <a:ext cx="1280160" cy="384048"/>
          </a:xfrm>
          <a:prstGeom prst="rect">
            <a:avLst/>
          </a:prstGeom>
          <a:noFill/>
          <a:ln/>
        </p:spPr>
        <p:txBody>
          <a:bodyPr wrap="square" lIns="0" tIns="0" rIns="0" bIns="0" rtlCol="0" anchor="ctr">
            <a:normAutofit/>
          </a:bodyPr>
          <a:lstStyle/>
          <a:p>
            <a:pPr marL="0" indent="0" algn="l">
              <a:lnSpc>
                <a:spcPts val="1600"/>
              </a:lnSpc>
              <a:buNone/>
            </a:pPr>
            <a:r>
              <a:rPr lang="en-US" sz="1600" b="1" dirty="0">
                <a:solidFill>
                  <a:srgbClr val="17171C"/>
                </a:solidFill>
                <a:latin typeface="DM Sans" pitchFamily="34" charset="0"/>
                <a:ea typeface="DM Sans" pitchFamily="34" charset="-122"/>
                <a:cs typeface="DM Sans" pitchFamily="34" charset="-120"/>
              </a:rPr>
              <a:t>T-shirt</a:t>
            </a:r>
            <a:endParaRPr lang="en-US" sz="1600" dirty="0"/>
          </a:p>
        </p:txBody>
      </p:sp>
      <p:sp>
        <p:nvSpPr>
          <p:cNvPr id="18" name="Bar 18"/>
          <p:cNvSpPr/>
          <p:nvPr/>
        </p:nvSpPr>
        <p:spPr>
          <a:xfrm>
            <a:off x="2184400" y="4434840"/>
            <a:ext cx="5945063" cy="384048"/>
          </a:xfrm>
          <a:prstGeom prst="roundRect">
            <a:avLst>
              <a:gd name="adj" fmla="val 30000"/>
            </a:avLst>
          </a:prstGeom>
          <a:solidFill>
            <a:srgbClr val="A9A2F5"/>
          </a:solidFill>
          <a:ln/>
        </p:spPr>
        <p:txBody>
          <a:bodyPr/>
          <a:lstStyle/>
          <a:p>
            <a:endParaRPr lang="en-US"/>
          </a:p>
        </p:txBody>
      </p:sp>
      <p:sp>
        <p:nvSpPr>
          <p:cNvPr id="19" name="Text 19"/>
          <p:cNvSpPr/>
          <p:nvPr/>
        </p:nvSpPr>
        <p:spPr>
          <a:xfrm>
            <a:off x="8266623" y="4434840"/>
            <a:ext cx="822960" cy="384048"/>
          </a:xfrm>
          <a:prstGeom prst="rect">
            <a:avLst/>
          </a:prstGeom>
          <a:noFill/>
          <a:ln/>
        </p:spPr>
        <p:txBody>
          <a:bodyPr wrap="square" lIns="0" tIns="0" rIns="0" bIns="0" rtlCol="0" anchor="ctr">
            <a:normAutofit/>
          </a:bodyPr>
          <a:lstStyle/>
          <a:p>
            <a:pPr marL="0" indent="0" algn="l">
              <a:lnSpc>
                <a:spcPts val="1600"/>
              </a:lnSpc>
              <a:buNone/>
            </a:pPr>
            <a:r>
              <a:rPr lang="en-US" sz="1600" b="1" dirty="0">
                <a:solidFill>
                  <a:srgbClr val="17171C"/>
                </a:solidFill>
                <a:latin typeface="DM Sans" pitchFamily="34" charset="0"/>
                <a:ea typeface="DM Sans" pitchFamily="34" charset="-122"/>
                <a:cs typeface="DM Sans" pitchFamily="34" charset="-120"/>
              </a:rPr>
              <a:t>3.78</a:t>
            </a:r>
            <a:endParaRPr lang="en-US" sz="1600" dirty="0"/>
          </a:p>
        </p:txBody>
      </p:sp>
      <p:sp>
        <p:nvSpPr>
          <p:cNvPr id="20" name="Shape 20"/>
          <p:cNvSpPr/>
          <p:nvPr/>
        </p:nvSpPr>
        <p:spPr>
          <a:xfrm>
            <a:off x="831850" y="5138928"/>
            <a:ext cx="0" cy="566928"/>
          </a:xfrm>
          <a:prstGeom prst="line">
            <a:avLst/>
          </a:prstGeom>
          <a:noFill/>
          <a:ln w="38100">
            <a:solidFill>
              <a:srgbClr val="5B4BFF"/>
            </a:solidFill>
            <a:prstDash val="solid"/>
          </a:ln>
        </p:spPr>
        <p:txBody>
          <a:bodyPr/>
          <a:lstStyle/>
          <a:p>
            <a:endParaRPr lang="en-US"/>
          </a:p>
        </p:txBody>
      </p:sp>
      <p:sp>
        <p:nvSpPr>
          <p:cNvPr id="21" name="Text 21"/>
          <p:cNvSpPr/>
          <p:nvPr/>
        </p:nvSpPr>
        <p:spPr>
          <a:xfrm>
            <a:off x="1032256" y="5175504"/>
            <a:ext cx="10346944" cy="548640"/>
          </a:xfrm>
          <a:prstGeom prst="rect">
            <a:avLst/>
          </a:prstGeom>
          <a:noFill/>
          <a:ln/>
        </p:spPr>
        <p:txBody>
          <a:bodyPr wrap="square" lIns="0" tIns="0" rIns="0" bIns="0" rtlCol="0" anchor="t">
            <a:normAutofit/>
          </a:bodyPr>
          <a:lstStyle/>
          <a:p>
            <a:pPr marL="0" indent="0" algn="l">
              <a:lnSpc>
                <a:spcPts val="2240"/>
              </a:lnSpc>
              <a:buNone/>
            </a:pPr>
            <a:r>
              <a:rPr lang="en-US" sz="1600" b="0" dirty="0">
                <a:solidFill>
                  <a:srgbClr val="17171C"/>
                </a:solidFill>
                <a:latin typeface="DM Sans" pitchFamily="34" charset="0"/>
                <a:ea typeface="DM Sans" pitchFamily="34" charset="-122"/>
                <a:cs typeface="DM Sans" pitchFamily="34" charset="-120"/>
              </a:rPr>
              <a:t>ratings of each item are consistently good rather than driven by one standout.</a:t>
            </a:r>
            <a:endParaRPr lang="en-US" sz="1600" dirty="0"/>
          </a:p>
        </p:txBody>
      </p:sp>
      <p:sp>
        <p:nvSpPr>
          <p:cNvPr id="23" name="Text 2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79"/>
              </a:lnSpc>
              <a:buNone/>
            </a:pPr>
            <a:r>
              <a:rPr lang="en-US" sz="1200" b="0" dirty="0">
                <a:solidFill>
                  <a:srgbClr val="6B6B76"/>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2"/>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79"/>
              </a:lnSpc>
              <a:buNone/>
            </a:pPr>
            <a:r>
              <a:rPr lang="en-US" sz="1200" b="1" spc="100" dirty="0">
                <a:solidFill>
                  <a:srgbClr val="5B4BFF"/>
                </a:solidFill>
                <a:latin typeface="DM Sans" pitchFamily="34" charset="0"/>
                <a:ea typeface="DM Sans" pitchFamily="34" charset="-122"/>
                <a:cs typeface="DM Sans" pitchFamily="34" charset="-120"/>
              </a:rPr>
              <a:t>RECOMMENDATIONS</a:t>
            </a:r>
            <a:endParaRPr lang="en-US" sz="1200" dirty="0"/>
          </a:p>
        </p:txBody>
      </p:sp>
      <p:sp>
        <p:nvSpPr>
          <p:cNvPr id="3" name="Text 3"/>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7171C"/>
                </a:solidFill>
                <a:latin typeface="DM Sans" pitchFamily="34" charset="0"/>
                <a:ea typeface="DM Sans" pitchFamily="34" charset="-122"/>
                <a:cs typeface="DM Sans" pitchFamily="34" charset="-120"/>
              </a:rPr>
              <a:t>Subscriptions and discounts</a:t>
            </a:r>
            <a:endParaRPr lang="en-US" sz="3600" dirty="0"/>
          </a:p>
        </p:txBody>
      </p:sp>
      <p:sp>
        <p:nvSpPr>
          <p:cNvPr id="4" name="Card 4"/>
          <p:cNvSpPr/>
          <p:nvPr/>
        </p:nvSpPr>
        <p:spPr>
          <a:xfrm>
            <a:off x="812800" y="1828800"/>
            <a:ext cx="5156200" cy="1874520"/>
          </a:xfrm>
          <a:prstGeom prst="roundRect">
            <a:avLst>
              <a:gd name="adj" fmla="val 5641"/>
            </a:avLst>
          </a:prstGeom>
          <a:solidFill>
            <a:srgbClr val="FBFAF7"/>
          </a:solidFill>
          <a:ln w="6350">
            <a:solidFill>
              <a:srgbClr val="E4E1D8"/>
            </a:solidFill>
            <a:prstDash val="solid"/>
          </a:ln>
        </p:spPr>
        <p:txBody>
          <a:bodyPr/>
          <a:lstStyle/>
          <a:p>
            <a:endParaRPr lang="en-US"/>
          </a:p>
        </p:txBody>
      </p:sp>
      <p:sp>
        <p:nvSpPr>
          <p:cNvPr id="5" name="Badge 5"/>
          <p:cNvSpPr/>
          <p:nvPr/>
        </p:nvSpPr>
        <p:spPr>
          <a:xfrm>
            <a:off x="1066800" y="2029968"/>
            <a:ext cx="402336" cy="402336"/>
          </a:xfrm>
          <a:prstGeom prst="ellipse">
            <a:avLst/>
          </a:prstGeom>
          <a:solidFill>
            <a:srgbClr val="5B4BFF"/>
          </a:solidFill>
          <a:ln/>
        </p:spPr>
        <p:txBody>
          <a:bodyPr wrap="square" lIns="0" tIns="0" rIns="0" bIns="0" rtlCol="0" anchor="ctr">
            <a:normAutofit/>
          </a:bodyPr>
          <a:lstStyle/>
          <a:p>
            <a:pPr marL="0" indent="0" algn="ctr">
              <a:buNone/>
            </a:pPr>
            <a:r>
              <a:rPr lang="en-US" sz="1600" b="1" dirty="0">
                <a:solidFill>
                  <a:srgbClr val="FBFAF7"/>
                </a:solidFill>
                <a:latin typeface="DM Sans" pitchFamily="34" charset="0"/>
                <a:ea typeface="DM Sans" pitchFamily="34" charset="-122"/>
                <a:cs typeface="DM Sans" pitchFamily="34" charset="-120"/>
              </a:rPr>
              <a:t>1</a:t>
            </a:r>
          </a:p>
        </p:txBody>
      </p:sp>
      <p:sp>
        <p:nvSpPr>
          <p:cNvPr id="6" name="Text 6"/>
          <p:cNvSpPr/>
          <p:nvPr/>
        </p:nvSpPr>
        <p:spPr>
          <a:xfrm>
            <a:off x="1652016" y="2029968"/>
            <a:ext cx="4062984" cy="402336"/>
          </a:xfrm>
          <a:prstGeom prst="rect">
            <a:avLst/>
          </a:prstGeom>
          <a:noFill/>
          <a:ln/>
        </p:spPr>
        <p:txBody>
          <a:bodyPr wrap="square" lIns="0" tIns="0" rIns="0" bIns="0" rtlCol="0" anchor="ctr">
            <a:normAutofit/>
          </a:bodyPr>
          <a:lstStyle/>
          <a:p>
            <a:pPr marL="0" indent="0" algn="l">
              <a:lnSpc>
                <a:spcPts val="1800"/>
              </a:lnSpc>
              <a:buNone/>
            </a:pPr>
            <a:r>
              <a:rPr lang="en-US" sz="1800" b="1" dirty="0">
                <a:solidFill>
                  <a:srgbClr val="17171C"/>
                </a:solidFill>
                <a:latin typeface="DM Sans" pitchFamily="34" charset="0"/>
                <a:ea typeface="DM Sans" pitchFamily="34" charset="-122"/>
                <a:cs typeface="DM Sans" pitchFamily="34" charset="-120"/>
              </a:rPr>
              <a:t>Boost subscriptions</a:t>
            </a:r>
            <a:endParaRPr lang="en-US" sz="1800" dirty="0"/>
          </a:p>
        </p:txBody>
      </p:sp>
      <p:sp>
        <p:nvSpPr>
          <p:cNvPr id="7" name="Text 7"/>
          <p:cNvSpPr/>
          <p:nvPr/>
        </p:nvSpPr>
        <p:spPr>
          <a:xfrm>
            <a:off x="1066800" y="2542032"/>
            <a:ext cx="4648200" cy="105156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55555F"/>
                </a:solidFill>
                <a:latin typeface="DM Sans" pitchFamily="34" charset="0"/>
                <a:ea typeface="DM Sans" pitchFamily="34" charset="-122"/>
                <a:cs typeface="DM Sans" pitchFamily="34" charset="-120"/>
              </a:rPr>
              <a:t>Only 27% subscribe, and they spend the same ($59.49 vs. $59.87). Add early access, free shipping or members-only pricing.</a:t>
            </a:r>
            <a:endParaRPr lang="en-US" sz="1400" dirty="0"/>
          </a:p>
        </p:txBody>
      </p:sp>
      <p:sp>
        <p:nvSpPr>
          <p:cNvPr id="8" name="Card 8"/>
          <p:cNvSpPr/>
          <p:nvPr/>
        </p:nvSpPr>
        <p:spPr>
          <a:xfrm>
            <a:off x="6223000" y="1828800"/>
            <a:ext cx="5156200" cy="1874520"/>
          </a:xfrm>
          <a:prstGeom prst="roundRect">
            <a:avLst>
              <a:gd name="adj" fmla="val 5641"/>
            </a:avLst>
          </a:prstGeom>
          <a:solidFill>
            <a:srgbClr val="FBFAF7"/>
          </a:solidFill>
          <a:ln w="6350">
            <a:solidFill>
              <a:srgbClr val="E4E1D8"/>
            </a:solidFill>
            <a:prstDash val="solid"/>
          </a:ln>
        </p:spPr>
        <p:txBody>
          <a:bodyPr/>
          <a:lstStyle/>
          <a:p>
            <a:endParaRPr lang="en-US"/>
          </a:p>
        </p:txBody>
      </p:sp>
      <p:sp>
        <p:nvSpPr>
          <p:cNvPr id="9" name="Badge 9"/>
          <p:cNvSpPr/>
          <p:nvPr/>
        </p:nvSpPr>
        <p:spPr>
          <a:xfrm>
            <a:off x="6477000" y="2029968"/>
            <a:ext cx="402336" cy="402336"/>
          </a:xfrm>
          <a:prstGeom prst="ellipse">
            <a:avLst/>
          </a:prstGeom>
          <a:solidFill>
            <a:srgbClr val="5B4BFF"/>
          </a:solidFill>
          <a:ln/>
        </p:spPr>
        <p:txBody>
          <a:bodyPr wrap="square" lIns="0" tIns="0" rIns="0" bIns="0" rtlCol="0" anchor="ctr">
            <a:normAutofit/>
          </a:bodyPr>
          <a:lstStyle/>
          <a:p>
            <a:pPr marL="0" indent="0" algn="ctr">
              <a:buNone/>
            </a:pPr>
            <a:r>
              <a:rPr lang="en-US" sz="1600" b="1" dirty="0">
                <a:solidFill>
                  <a:srgbClr val="FBFAF7"/>
                </a:solidFill>
                <a:latin typeface="DM Sans" pitchFamily="34" charset="0"/>
                <a:ea typeface="DM Sans" pitchFamily="34" charset="-122"/>
                <a:cs typeface="DM Sans" pitchFamily="34" charset="-120"/>
              </a:rPr>
              <a:t>2</a:t>
            </a:r>
          </a:p>
        </p:txBody>
      </p:sp>
      <p:sp>
        <p:nvSpPr>
          <p:cNvPr id="10" name="Text 10"/>
          <p:cNvSpPr/>
          <p:nvPr/>
        </p:nvSpPr>
        <p:spPr>
          <a:xfrm>
            <a:off x="7062216" y="2029968"/>
            <a:ext cx="4062984" cy="402336"/>
          </a:xfrm>
          <a:prstGeom prst="rect">
            <a:avLst/>
          </a:prstGeom>
          <a:noFill/>
          <a:ln/>
        </p:spPr>
        <p:txBody>
          <a:bodyPr wrap="square" lIns="0" tIns="0" rIns="0" bIns="0" rtlCol="0" anchor="ctr">
            <a:normAutofit/>
          </a:bodyPr>
          <a:lstStyle/>
          <a:p>
            <a:pPr marL="0" indent="0" algn="l">
              <a:lnSpc>
                <a:spcPts val="1800"/>
              </a:lnSpc>
              <a:buNone/>
            </a:pPr>
            <a:r>
              <a:rPr lang="en-US" sz="1800" b="1" dirty="0">
                <a:solidFill>
                  <a:srgbClr val="17171C"/>
                </a:solidFill>
                <a:latin typeface="DM Sans" pitchFamily="34" charset="0"/>
                <a:ea typeface="DM Sans" pitchFamily="34" charset="-122"/>
                <a:cs typeface="DM Sans" pitchFamily="34" charset="-120"/>
              </a:rPr>
              <a:t>Convert repeat buyers</a:t>
            </a:r>
            <a:endParaRPr lang="en-US" sz="1800" dirty="0"/>
          </a:p>
        </p:txBody>
      </p:sp>
      <p:sp>
        <p:nvSpPr>
          <p:cNvPr id="11" name="Text 11"/>
          <p:cNvSpPr/>
          <p:nvPr/>
        </p:nvSpPr>
        <p:spPr>
          <a:xfrm>
            <a:off x="6477000" y="2542032"/>
            <a:ext cx="4648200" cy="105156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55555F"/>
                </a:solidFill>
                <a:latin typeface="DM Sans" pitchFamily="34" charset="0"/>
                <a:ea typeface="DM Sans" pitchFamily="34" charset="-122"/>
                <a:cs typeface="DM Sans" pitchFamily="34" charset="-120"/>
              </a:rPr>
              <a:t>72% of repeat buyers are not subscribed. They already know the brand, so there </a:t>
            </a:r>
            <a:r>
              <a:rPr lang="en-US" sz="1400" dirty="0">
                <a:solidFill>
                  <a:srgbClr val="55555F"/>
                </a:solidFill>
                <a:latin typeface="DM Sans" pitchFamily="34" charset="0"/>
                <a:ea typeface="DM Sans" pitchFamily="34" charset="-122"/>
                <a:cs typeface="DM Sans" pitchFamily="34" charset="-120"/>
              </a:rPr>
              <a:t>is </a:t>
            </a:r>
            <a:r>
              <a:rPr lang="en-US" sz="1400" b="0" dirty="0">
                <a:solidFill>
                  <a:srgbClr val="55555F"/>
                </a:solidFill>
                <a:latin typeface="DM Sans" pitchFamily="34" charset="0"/>
                <a:ea typeface="DM Sans" pitchFamily="34" charset="-122"/>
                <a:cs typeface="DM Sans" pitchFamily="34" charset="-120"/>
              </a:rPr>
              <a:t>room to convert them.</a:t>
            </a:r>
            <a:endParaRPr lang="en-US" sz="1400" dirty="0"/>
          </a:p>
        </p:txBody>
      </p:sp>
      <p:sp>
        <p:nvSpPr>
          <p:cNvPr id="12" name="Card 12"/>
          <p:cNvSpPr/>
          <p:nvPr/>
        </p:nvSpPr>
        <p:spPr>
          <a:xfrm>
            <a:off x="812800" y="3904488"/>
            <a:ext cx="5156200" cy="1874520"/>
          </a:xfrm>
          <a:prstGeom prst="roundRect">
            <a:avLst>
              <a:gd name="adj" fmla="val 5641"/>
            </a:avLst>
          </a:prstGeom>
          <a:solidFill>
            <a:srgbClr val="FBFAF7"/>
          </a:solidFill>
          <a:ln w="6350">
            <a:solidFill>
              <a:srgbClr val="E4E1D8"/>
            </a:solidFill>
            <a:prstDash val="solid"/>
          </a:ln>
        </p:spPr>
        <p:txBody>
          <a:bodyPr/>
          <a:lstStyle/>
          <a:p>
            <a:endParaRPr lang="en-US"/>
          </a:p>
        </p:txBody>
      </p:sp>
      <p:sp>
        <p:nvSpPr>
          <p:cNvPr id="13" name="Badge 13"/>
          <p:cNvSpPr/>
          <p:nvPr/>
        </p:nvSpPr>
        <p:spPr>
          <a:xfrm>
            <a:off x="1066800" y="4105656"/>
            <a:ext cx="402336" cy="402336"/>
          </a:xfrm>
          <a:prstGeom prst="ellipse">
            <a:avLst/>
          </a:prstGeom>
          <a:solidFill>
            <a:srgbClr val="5B4BFF"/>
          </a:solidFill>
          <a:ln/>
        </p:spPr>
        <p:txBody>
          <a:bodyPr wrap="square" lIns="0" tIns="0" rIns="0" bIns="0" rtlCol="0" anchor="ctr">
            <a:normAutofit/>
          </a:bodyPr>
          <a:lstStyle/>
          <a:p>
            <a:pPr marL="0" indent="0" algn="ctr">
              <a:buNone/>
            </a:pPr>
            <a:r>
              <a:rPr lang="en-US" sz="1600" b="1" dirty="0">
                <a:solidFill>
                  <a:srgbClr val="FBFAF7"/>
                </a:solidFill>
                <a:latin typeface="DM Sans" pitchFamily="34" charset="0"/>
                <a:ea typeface="DM Sans" pitchFamily="34" charset="-122"/>
                <a:cs typeface="DM Sans" pitchFamily="34" charset="-120"/>
              </a:rPr>
              <a:t>3</a:t>
            </a:r>
          </a:p>
        </p:txBody>
      </p:sp>
      <p:sp>
        <p:nvSpPr>
          <p:cNvPr id="14" name="Text 14"/>
          <p:cNvSpPr/>
          <p:nvPr/>
        </p:nvSpPr>
        <p:spPr>
          <a:xfrm>
            <a:off x="1652016" y="4105656"/>
            <a:ext cx="4062984" cy="402336"/>
          </a:xfrm>
          <a:prstGeom prst="rect">
            <a:avLst/>
          </a:prstGeom>
          <a:noFill/>
          <a:ln/>
        </p:spPr>
        <p:txBody>
          <a:bodyPr wrap="square" lIns="0" tIns="0" rIns="0" bIns="0" rtlCol="0" anchor="ctr">
            <a:normAutofit/>
          </a:bodyPr>
          <a:lstStyle/>
          <a:p>
            <a:pPr marL="0" indent="0" algn="l">
              <a:lnSpc>
                <a:spcPts val="1800"/>
              </a:lnSpc>
              <a:buNone/>
            </a:pPr>
            <a:r>
              <a:rPr lang="en-US" sz="1800" b="1" dirty="0">
                <a:solidFill>
                  <a:srgbClr val="17171C"/>
                </a:solidFill>
                <a:latin typeface="DM Sans" pitchFamily="34" charset="0"/>
                <a:ea typeface="DM Sans" pitchFamily="34" charset="-122"/>
                <a:cs typeface="DM Sans" pitchFamily="34" charset="-120"/>
              </a:rPr>
              <a:t>Review the discount policy</a:t>
            </a:r>
            <a:endParaRPr lang="en-US" sz="1800" dirty="0"/>
          </a:p>
        </p:txBody>
      </p:sp>
      <p:sp>
        <p:nvSpPr>
          <p:cNvPr id="15" name="Text 15"/>
          <p:cNvSpPr/>
          <p:nvPr/>
        </p:nvSpPr>
        <p:spPr>
          <a:xfrm>
            <a:off x="1066800" y="4617720"/>
            <a:ext cx="4648200" cy="105156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55555F"/>
                </a:solidFill>
                <a:latin typeface="DM Sans" pitchFamily="34" charset="0"/>
                <a:ea typeface="DM Sans" pitchFamily="34" charset="-122"/>
                <a:cs typeface="DM Sans" pitchFamily="34" charset="-120"/>
              </a:rPr>
              <a:t>43% of purchases use a discount, whatever the buying habits. Test if the 839 high spenders would pay full price, and cut back on Hat, Sneakers, Coat, Sweater and Pants.</a:t>
            </a:r>
            <a:endParaRPr lang="en-US" sz="1400" dirty="0"/>
          </a:p>
        </p:txBody>
      </p:sp>
      <p:sp>
        <p:nvSpPr>
          <p:cNvPr id="16" name="Card 16"/>
          <p:cNvSpPr/>
          <p:nvPr/>
        </p:nvSpPr>
        <p:spPr>
          <a:xfrm>
            <a:off x="6223000" y="3904488"/>
            <a:ext cx="5156200" cy="1874520"/>
          </a:xfrm>
          <a:prstGeom prst="roundRect">
            <a:avLst>
              <a:gd name="adj" fmla="val 5641"/>
            </a:avLst>
          </a:prstGeom>
          <a:solidFill>
            <a:srgbClr val="FBFAF7"/>
          </a:solidFill>
          <a:ln w="6350">
            <a:solidFill>
              <a:srgbClr val="E4E1D8"/>
            </a:solidFill>
            <a:prstDash val="solid"/>
          </a:ln>
        </p:spPr>
        <p:txBody>
          <a:bodyPr/>
          <a:lstStyle/>
          <a:p>
            <a:endParaRPr lang="en-US"/>
          </a:p>
        </p:txBody>
      </p:sp>
      <p:sp>
        <p:nvSpPr>
          <p:cNvPr id="17" name="Badge 17"/>
          <p:cNvSpPr/>
          <p:nvPr/>
        </p:nvSpPr>
        <p:spPr>
          <a:xfrm>
            <a:off x="6477000" y="4105656"/>
            <a:ext cx="402336" cy="402336"/>
          </a:xfrm>
          <a:prstGeom prst="ellipse">
            <a:avLst/>
          </a:prstGeom>
          <a:solidFill>
            <a:srgbClr val="5B4BFF"/>
          </a:solidFill>
          <a:ln/>
        </p:spPr>
        <p:txBody>
          <a:bodyPr wrap="square" lIns="0" tIns="0" rIns="0" bIns="0" rtlCol="0" anchor="ctr">
            <a:normAutofit/>
          </a:bodyPr>
          <a:lstStyle/>
          <a:p>
            <a:pPr marL="0" indent="0" algn="ctr">
              <a:buNone/>
            </a:pPr>
            <a:r>
              <a:rPr lang="en-US" sz="1600" b="1" dirty="0">
                <a:solidFill>
                  <a:srgbClr val="FBFAF7"/>
                </a:solidFill>
                <a:latin typeface="DM Sans" pitchFamily="34" charset="0"/>
                <a:ea typeface="DM Sans" pitchFamily="34" charset="-122"/>
                <a:cs typeface="DM Sans" pitchFamily="34" charset="-120"/>
              </a:rPr>
              <a:t>4</a:t>
            </a:r>
          </a:p>
        </p:txBody>
      </p:sp>
      <p:sp>
        <p:nvSpPr>
          <p:cNvPr id="18" name="Text 18"/>
          <p:cNvSpPr/>
          <p:nvPr/>
        </p:nvSpPr>
        <p:spPr>
          <a:xfrm>
            <a:off x="7062216" y="4105656"/>
            <a:ext cx="4062984" cy="402336"/>
          </a:xfrm>
          <a:prstGeom prst="rect">
            <a:avLst/>
          </a:prstGeom>
          <a:noFill/>
          <a:ln/>
        </p:spPr>
        <p:txBody>
          <a:bodyPr wrap="square" lIns="0" tIns="0" rIns="0" bIns="0" rtlCol="0" anchor="ctr">
            <a:normAutofit/>
          </a:bodyPr>
          <a:lstStyle/>
          <a:p>
            <a:pPr marL="0" indent="0" algn="l">
              <a:lnSpc>
                <a:spcPts val="1800"/>
              </a:lnSpc>
              <a:buNone/>
            </a:pPr>
            <a:r>
              <a:rPr lang="en-US" sz="1800" b="1" dirty="0">
                <a:solidFill>
                  <a:srgbClr val="17171C"/>
                </a:solidFill>
                <a:latin typeface="DM Sans" pitchFamily="34" charset="0"/>
                <a:ea typeface="DM Sans" pitchFamily="34" charset="-122"/>
                <a:cs typeface="DM Sans" pitchFamily="34" charset="-120"/>
              </a:rPr>
              <a:t>Target discounts strategically</a:t>
            </a:r>
            <a:endParaRPr lang="en-US" sz="1800" dirty="0"/>
          </a:p>
        </p:txBody>
      </p:sp>
      <p:sp>
        <p:nvSpPr>
          <p:cNvPr id="19" name="Text 19"/>
          <p:cNvSpPr/>
          <p:nvPr/>
        </p:nvSpPr>
        <p:spPr>
          <a:xfrm>
            <a:off x="6477000" y="4617720"/>
            <a:ext cx="4648200" cy="105156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55555F"/>
                </a:solidFill>
                <a:latin typeface="DM Sans" pitchFamily="34" charset="0"/>
                <a:ea typeface="DM Sans" pitchFamily="34" charset="-122"/>
                <a:cs typeface="DM Sans" pitchFamily="34" charset="-120"/>
              </a:rPr>
              <a:t>Offer discounts to occasional buyers (Annually, Every 3 Months) to lift their frequency, and reward frequent buyers with non-price perks.</a:t>
            </a:r>
            <a:endParaRPr lang="en-US" sz="1400" dirty="0"/>
          </a:p>
        </p:txBody>
      </p:sp>
      <p:sp>
        <p:nvSpPr>
          <p:cNvPr id="21" name="Text 2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79"/>
              </a:lnSpc>
              <a:buNone/>
            </a:pPr>
            <a:r>
              <a:rPr lang="en-US" sz="1200" b="0" dirty="0">
                <a:solidFill>
                  <a:srgbClr val="6B6B76"/>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2"/>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79"/>
              </a:lnSpc>
              <a:buNone/>
            </a:pPr>
            <a:r>
              <a:rPr lang="en-US" sz="1200" b="1" spc="100" dirty="0">
                <a:solidFill>
                  <a:srgbClr val="5B4BFF"/>
                </a:solidFill>
                <a:latin typeface="DM Sans" pitchFamily="34" charset="0"/>
                <a:ea typeface="DM Sans" pitchFamily="34" charset="-122"/>
                <a:cs typeface="DM Sans" pitchFamily="34" charset="-120"/>
              </a:rPr>
              <a:t>RECOMMENDATIONS</a:t>
            </a:r>
            <a:endParaRPr lang="en-US" sz="1200" dirty="0"/>
          </a:p>
        </p:txBody>
      </p:sp>
      <p:sp>
        <p:nvSpPr>
          <p:cNvPr id="3" name="Text 3"/>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7171C"/>
                </a:solidFill>
                <a:latin typeface="DM Sans" pitchFamily="34" charset="0"/>
                <a:ea typeface="DM Sans" pitchFamily="34" charset="-122"/>
                <a:cs typeface="DM Sans" pitchFamily="34" charset="-120"/>
              </a:rPr>
              <a:t>Reach the right customers</a:t>
            </a:r>
            <a:endParaRPr lang="en-US" sz="3600" dirty="0"/>
          </a:p>
        </p:txBody>
      </p:sp>
      <p:sp>
        <p:nvSpPr>
          <p:cNvPr id="4" name="Card 4"/>
          <p:cNvSpPr/>
          <p:nvPr/>
        </p:nvSpPr>
        <p:spPr>
          <a:xfrm>
            <a:off x="812800" y="1828800"/>
            <a:ext cx="3352800" cy="3840480"/>
          </a:xfrm>
          <a:prstGeom prst="roundRect">
            <a:avLst>
              <a:gd name="adj" fmla="val 4500"/>
            </a:avLst>
          </a:prstGeom>
          <a:solidFill>
            <a:srgbClr val="FBFAF7"/>
          </a:solidFill>
          <a:ln w="6350">
            <a:solidFill>
              <a:srgbClr val="E4E1D8"/>
            </a:solidFill>
            <a:prstDash val="solid"/>
          </a:ln>
        </p:spPr>
        <p:txBody>
          <a:bodyPr/>
          <a:lstStyle/>
          <a:p>
            <a:endParaRPr lang="en-US"/>
          </a:p>
        </p:txBody>
      </p:sp>
      <p:sp>
        <p:nvSpPr>
          <p:cNvPr id="5" name="Text 5"/>
          <p:cNvSpPr/>
          <p:nvPr/>
        </p:nvSpPr>
        <p:spPr>
          <a:xfrm>
            <a:off x="1066800" y="2103120"/>
            <a:ext cx="2844800" cy="237744"/>
          </a:xfrm>
          <a:prstGeom prst="rect">
            <a:avLst/>
          </a:prstGeom>
          <a:noFill/>
          <a:ln/>
        </p:spPr>
        <p:txBody>
          <a:bodyPr wrap="square" lIns="0" tIns="0" rIns="0" bIns="0" rtlCol="0" anchor="t">
            <a:normAutofit/>
          </a:bodyPr>
          <a:lstStyle/>
          <a:p>
            <a:pPr marL="0" indent="0" algn="l">
              <a:lnSpc>
                <a:spcPts val="1679"/>
              </a:lnSpc>
              <a:buNone/>
            </a:pPr>
            <a:r>
              <a:rPr lang="en-US" sz="1200" b="1" spc="100" dirty="0">
                <a:solidFill>
                  <a:srgbClr val="5B4BFF"/>
                </a:solidFill>
                <a:latin typeface="DM Sans" pitchFamily="34" charset="0"/>
                <a:ea typeface="DM Sans" pitchFamily="34" charset="-122"/>
                <a:cs typeface="DM Sans" pitchFamily="34" charset="-120"/>
              </a:rPr>
              <a:t>PRODUCT POSITIONING</a:t>
            </a:r>
            <a:endParaRPr lang="en-US" sz="1200" dirty="0"/>
          </a:p>
        </p:txBody>
      </p:sp>
      <p:sp>
        <p:nvSpPr>
          <p:cNvPr id="6" name="Text 6"/>
          <p:cNvSpPr/>
          <p:nvPr/>
        </p:nvSpPr>
        <p:spPr>
          <a:xfrm>
            <a:off x="1066800" y="2487168"/>
            <a:ext cx="2844800" cy="59436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17171C"/>
                </a:solidFill>
                <a:latin typeface="DM Sans" pitchFamily="34" charset="0"/>
                <a:ea typeface="DM Sans" pitchFamily="34" charset="-122"/>
                <a:cs typeface="DM Sans" pitchFamily="34" charset="-120"/>
              </a:rPr>
              <a:t>3.78–3.86</a:t>
            </a:r>
            <a:endParaRPr lang="en-US" sz="4000" dirty="0"/>
          </a:p>
        </p:txBody>
      </p:sp>
      <p:sp>
        <p:nvSpPr>
          <p:cNvPr id="7" name="Text 7"/>
          <p:cNvSpPr/>
          <p:nvPr/>
        </p:nvSpPr>
        <p:spPr>
          <a:xfrm>
            <a:off x="1066800" y="3127248"/>
            <a:ext cx="2844800" cy="50292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55555F"/>
                </a:solidFill>
                <a:latin typeface="DM Sans" pitchFamily="34" charset="0"/>
                <a:ea typeface="DM Sans" pitchFamily="34" charset="-122"/>
                <a:cs typeface="DM Sans" pitchFamily="34" charset="-120"/>
              </a:rPr>
              <a:t>average rating of the top five products</a:t>
            </a:r>
            <a:endParaRPr lang="en-US" sz="1400" dirty="0"/>
          </a:p>
        </p:txBody>
      </p:sp>
      <p:sp>
        <p:nvSpPr>
          <p:cNvPr id="8" name="Line 8"/>
          <p:cNvSpPr/>
          <p:nvPr/>
        </p:nvSpPr>
        <p:spPr>
          <a:xfrm>
            <a:off x="1066800" y="3749040"/>
            <a:ext cx="2844800" cy="0"/>
          </a:xfrm>
          <a:prstGeom prst="line">
            <a:avLst/>
          </a:prstGeom>
          <a:noFill/>
          <a:ln w="6350">
            <a:solidFill>
              <a:srgbClr val="E4E1D8"/>
            </a:solidFill>
            <a:prstDash val="solid"/>
          </a:ln>
        </p:spPr>
        <p:txBody>
          <a:bodyPr/>
          <a:lstStyle/>
          <a:p>
            <a:endParaRPr lang="en-US"/>
          </a:p>
        </p:txBody>
      </p:sp>
      <p:sp>
        <p:nvSpPr>
          <p:cNvPr id="9" name="Text 9"/>
          <p:cNvSpPr/>
          <p:nvPr/>
        </p:nvSpPr>
        <p:spPr>
          <a:xfrm>
            <a:off x="1066800" y="3931920"/>
            <a:ext cx="2844800" cy="155448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17171C"/>
                </a:solidFill>
                <a:latin typeface="DM Sans" pitchFamily="34" charset="0"/>
                <a:ea typeface="DM Sans" pitchFamily="34" charset="-122"/>
                <a:cs typeface="DM Sans" pitchFamily="34" charset="-120"/>
              </a:rPr>
              <a:t>Feature Gloves, Sandals, Boots, Hat and T-shirt together in campaigns and use the ratings as social proof. The gaps are small, so promote them as a group.</a:t>
            </a:r>
            <a:endParaRPr lang="en-US" sz="1400" dirty="0"/>
          </a:p>
        </p:txBody>
      </p:sp>
      <p:sp>
        <p:nvSpPr>
          <p:cNvPr id="10" name="Card 10"/>
          <p:cNvSpPr/>
          <p:nvPr/>
        </p:nvSpPr>
        <p:spPr>
          <a:xfrm>
            <a:off x="4419600" y="1828800"/>
            <a:ext cx="3352800" cy="3840480"/>
          </a:xfrm>
          <a:prstGeom prst="roundRect">
            <a:avLst>
              <a:gd name="adj" fmla="val 4500"/>
            </a:avLst>
          </a:prstGeom>
          <a:solidFill>
            <a:srgbClr val="FBFAF7"/>
          </a:solidFill>
          <a:ln w="6350">
            <a:solidFill>
              <a:srgbClr val="E4E1D8"/>
            </a:solidFill>
            <a:prstDash val="solid"/>
          </a:ln>
        </p:spPr>
        <p:txBody>
          <a:bodyPr/>
          <a:lstStyle/>
          <a:p>
            <a:endParaRPr lang="en-US"/>
          </a:p>
        </p:txBody>
      </p:sp>
      <p:sp>
        <p:nvSpPr>
          <p:cNvPr id="11" name="Text 11"/>
          <p:cNvSpPr/>
          <p:nvPr/>
        </p:nvSpPr>
        <p:spPr>
          <a:xfrm>
            <a:off x="4673600" y="2103120"/>
            <a:ext cx="2844800" cy="237744"/>
          </a:xfrm>
          <a:prstGeom prst="rect">
            <a:avLst/>
          </a:prstGeom>
          <a:noFill/>
          <a:ln/>
        </p:spPr>
        <p:txBody>
          <a:bodyPr wrap="square" lIns="0" tIns="0" rIns="0" bIns="0" rtlCol="0" anchor="t">
            <a:normAutofit/>
          </a:bodyPr>
          <a:lstStyle/>
          <a:p>
            <a:pPr marL="0" indent="0" algn="l">
              <a:lnSpc>
                <a:spcPts val="1679"/>
              </a:lnSpc>
              <a:buNone/>
            </a:pPr>
            <a:r>
              <a:rPr lang="en-US" sz="1200" b="1" spc="100" dirty="0">
                <a:solidFill>
                  <a:srgbClr val="5B4BFF"/>
                </a:solidFill>
                <a:latin typeface="DM Sans" pitchFamily="34" charset="0"/>
                <a:ea typeface="DM Sans" pitchFamily="34" charset="-122"/>
                <a:cs typeface="DM Sans" pitchFamily="34" charset="-120"/>
              </a:rPr>
              <a:t>AGE TARGETING</a:t>
            </a:r>
            <a:endParaRPr lang="en-US" sz="1200" dirty="0"/>
          </a:p>
        </p:txBody>
      </p:sp>
      <p:sp>
        <p:nvSpPr>
          <p:cNvPr id="12" name="Text 12"/>
          <p:cNvSpPr/>
          <p:nvPr/>
        </p:nvSpPr>
        <p:spPr>
          <a:xfrm>
            <a:off x="4673600" y="2487168"/>
            <a:ext cx="2844800" cy="59436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17171C"/>
                </a:solidFill>
                <a:latin typeface="DM Sans" pitchFamily="34" charset="0"/>
                <a:ea typeface="DM Sans" pitchFamily="34" charset="-122"/>
                <a:cs typeface="DM Sans" pitchFamily="34" charset="-120"/>
              </a:rPr>
              <a:t>$62,143</a:t>
            </a:r>
            <a:endParaRPr lang="en-US" sz="4000" dirty="0"/>
          </a:p>
        </p:txBody>
      </p:sp>
      <p:sp>
        <p:nvSpPr>
          <p:cNvPr id="13" name="Text 13"/>
          <p:cNvSpPr/>
          <p:nvPr/>
        </p:nvSpPr>
        <p:spPr>
          <a:xfrm>
            <a:off x="4673600" y="3127248"/>
            <a:ext cx="2844800" cy="50292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55555F"/>
                </a:solidFill>
                <a:latin typeface="DM Sans" pitchFamily="34" charset="0"/>
                <a:ea typeface="DM Sans" pitchFamily="34" charset="-122"/>
                <a:cs typeface="DM Sans" pitchFamily="34" charset="-120"/>
              </a:rPr>
              <a:t>from Young Adults, the top revenue group</a:t>
            </a:r>
            <a:endParaRPr lang="en-US" sz="1400" dirty="0"/>
          </a:p>
        </p:txBody>
      </p:sp>
      <p:sp>
        <p:nvSpPr>
          <p:cNvPr id="14" name="Line 14"/>
          <p:cNvSpPr/>
          <p:nvPr/>
        </p:nvSpPr>
        <p:spPr>
          <a:xfrm>
            <a:off x="4673600" y="3749040"/>
            <a:ext cx="2844800" cy="0"/>
          </a:xfrm>
          <a:prstGeom prst="line">
            <a:avLst/>
          </a:prstGeom>
          <a:noFill/>
          <a:ln w="6350">
            <a:solidFill>
              <a:srgbClr val="E4E1D8"/>
            </a:solidFill>
            <a:prstDash val="solid"/>
          </a:ln>
        </p:spPr>
        <p:txBody>
          <a:bodyPr/>
          <a:lstStyle/>
          <a:p>
            <a:endParaRPr lang="en-US"/>
          </a:p>
        </p:txBody>
      </p:sp>
      <p:sp>
        <p:nvSpPr>
          <p:cNvPr id="15" name="Text 15"/>
          <p:cNvSpPr/>
          <p:nvPr/>
        </p:nvSpPr>
        <p:spPr>
          <a:xfrm>
            <a:off x="4673600" y="3931920"/>
            <a:ext cx="2844800" cy="155448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17171C"/>
                </a:solidFill>
                <a:latin typeface="DM Sans" pitchFamily="34" charset="0"/>
                <a:ea typeface="DM Sans" pitchFamily="34" charset="-122"/>
                <a:cs typeface="DM Sans" pitchFamily="34" charset="-120"/>
              </a:rPr>
              <a:t>Run campaigns tailored to Young Adults but keep broad appeal. All four age groups sit within about 3 percentage points, so none can be ignored.</a:t>
            </a:r>
            <a:endParaRPr lang="en-US" sz="1400" dirty="0"/>
          </a:p>
        </p:txBody>
      </p:sp>
      <p:sp>
        <p:nvSpPr>
          <p:cNvPr id="16" name="Card 16"/>
          <p:cNvSpPr/>
          <p:nvPr/>
        </p:nvSpPr>
        <p:spPr>
          <a:xfrm>
            <a:off x="8026400" y="1828800"/>
            <a:ext cx="3352800" cy="3840480"/>
          </a:xfrm>
          <a:prstGeom prst="roundRect">
            <a:avLst>
              <a:gd name="adj" fmla="val 4500"/>
            </a:avLst>
          </a:prstGeom>
          <a:solidFill>
            <a:srgbClr val="17171C"/>
          </a:solidFill>
          <a:ln/>
        </p:spPr>
        <p:txBody>
          <a:bodyPr/>
          <a:lstStyle/>
          <a:p>
            <a:endParaRPr lang="en-US"/>
          </a:p>
        </p:txBody>
      </p:sp>
      <p:sp>
        <p:nvSpPr>
          <p:cNvPr id="17" name="Text 17"/>
          <p:cNvSpPr/>
          <p:nvPr/>
        </p:nvSpPr>
        <p:spPr>
          <a:xfrm>
            <a:off x="8280400" y="2103120"/>
            <a:ext cx="2844800" cy="237744"/>
          </a:xfrm>
          <a:prstGeom prst="rect">
            <a:avLst/>
          </a:prstGeom>
          <a:noFill/>
          <a:ln/>
        </p:spPr>
        <p:txBody>
          <a:bodyPr wrap="square" lIns="0" tIns="0" rIns="0" bIns="0" rtlCol="0" anchor="t">
            <a:normAutofit/>
          </a:bodyPr>
          <a:lstStyle/>
          <a:p>
            <a:pPr marL="0" indent="0" algn="l">
              <a:lnSpc>
                <a:spcPts val="1679"/>
              </a:lnSpc>
              <a:buNone/>
            </a:pPr>
            <a:r>
              <a:rPr lang="en-US" sz="1200" b="1" spc="100" dirty="0">
                <a:solidFill>
                  <a:srgbClr val="FF7A45"/>
                </a:solidFill>
                <a:latin typeface="DM Sans" pitchFamily="34" charset="0"/>
                <a:ea typeface="DM Sans" pitchFamily="34" charset="-122"/>
                <a:cs typeface="DM Sans" pitchFamily="34" charset="-120"/>
              </a:rPr>
              <a:t>FEMALE CUSTOMERS</a:t>
            </a:r>
            <a:endParaRPr lang="en-US" sz="1200" dirty="0"/>
          </a:p>
        </p:txBody>
      </p:sp>
      <p:sp>
        <p:nvSpPr>
          <p:cNvPr id="18" name="Text 18"/>
          <p:cNvSpPr/>
          <p:nvPr/>
        </p:nvSpPr>
        <p:spPr>
          <a:xfrm>
            <a:off x="8280400" y="2487168"/>
            <a:ext cx="2844800" cy="59436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FF7A45"/>
                </a:solidFill>
                <a:latin typeface="DM Sans" pitchFamily="34" charset="0"/>
                <a:ea typeface="DM Sans" pitchFamily="34" charset="-122"/>
                <a:cs typeface="DM Sans" pitchFamily="34" charset="-120"/>
              </a:rPr>
              <a:t>32%</a:t>
            </a:r>
            <a:endParaRPr lang="en-US" sz="4000" dirty="0"/>
          </a:p>
        </p:txBody>
      </p:sp>
      <p:sp>
        <p:nvSpPr>
          <p:cNvPr id="19" name="Text 19"/>
          <p:cNvSpPr/>
          <p:nvPr/>
        </p:nvSpPr>
        <p:spPr>
          <a:xfrm>
            <a:off x="8280400" y="3127248"/>
            <a:ext cx="2844800" cy="50292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B9B8C4"/>
                </a:solidFill>
                <a:latin typeface="DM Sans" pitchFamily="34" charset="0"/>
                <a:ea typeface="DM Sans" pitchFamily="34" charset="-122"/>
                <a:cs typeface="DM Sans" pitchFamily="34" charset="-120"/>
              </a:rPr>
              <a:t>of revenue comes from women</a:t>
            </a:r>
            <a:endParaRPr lang="en-US" sz="1400" dirty="0"/>
          </a:p>
        </p:txBody>
      </p:sp>
      <p:sp>
        <p:nvSpPr>
          <p:cNvPr id="20" name="Line 20"/>
          <p:cNvSpPr/>
          <p:nvPr/>
        </p:nvSpPr>
        <p:spPr>
          <a:xfrm>
            <a:off x="8280400" y="3749040"/>
            <a:ext cx="2844800" cy="0"/>
          </a:xfrm>
          <a:prstGeom prst="line">
            <a:avLst/>
          </a:prstGeom>
          <a:noFill/>
          <a:ln w="6350">
            <a:solidFill>
              <a:srgbClr val="3A3A44"/>
            </a:solidFill>
            <a:prstDash val="solid"/>
          </a:ln>
        </p:spPr>
        <p:txBody>
          <a:bodyPr/>
          <a:lstStyle/>
          <a:p>
            <a:endParaRPr lang="en-US"/>
          </a:p>
        </p:txBody>
      </p:sp>
      <p:sp>
        <p:nvSpPr>
          <p:cNvPr id="21" name="Text 21"/>
          <p:cNvSpPr/>
          <p:nvPr/>
        </p:nvSpPr>
        <p:spPr>
          <a:xfrm>
            <a:off x="8280400" y="3931920"/>
            <a:ext cx="2844800" cy="155448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F5F3EE"/>
                </a:solidFill>
                <a:latin typeface="DM Sans" pitchFamily="34" charset="0"/>
                <a:ea typeface="DM Sans" pitchFamily="34" charset="-122"/>
                <a:cs typeface="DM Sans" pitchFamily="34" charset="-120"/>
              </a:rPr>
              <a:t>Men are about twice the population so </a:t>
            </a:r>
            <a:r>
              <a:rPr lang="en-US" sz="1400" dirty="0">
                <a:solidFill>
                  <a:srgbClr val="F5F3EE"/>
                </a:solidFill>
                <a:latin typeface="DM Sans" pitchFamily="34" charset="0"/>
                <a:ea typeface="DM Sans" pitchFamily="34" charset="-122"/>
                <a:cs typeface="DM Sans" pitchFamily="34" charset="-120"/>
              </a:rPr>
              <a:t>c</a:t>
            </a:r>
            <a:r>
              <a:rPr lang="en-US" sz="1400" b="0" dirty="0">
                <a:solidFill>
                  <a:srgbClr val="F5F3EE"/>
                </a:solidFill>
                <a:latin typeface="DM Sans" pitchFamily="34" charset="0"/>
                <a:ea typeface="DM Sans" pitchFamily="34" charset="-122"/>
                <a:cs typeface="DM Sans" pitchFamily="34" charset="-120"/>
              </a:rPr>
              <a:t>ampaigns and ranges that attract more women are the largest growth opportunity.</a:t>
            </a:r>
            <a:endParaRPr lang="en-US" sz="1400" dirty="0"/>
          </a:p>
        </p:txBody>
      </p:sp>
      <p:sp>
        <p:nvSpPr>
          <p:cNvPr id="23" name="Text 2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79"/>
              </a:lnSpc>
              <a:buNone/>
            </a:pPr>
            <a:r>
              <a:rPr lang="en-US" sz="1200" b="0" dirty="0">
                <a:solidFill>
                  <a:srgbClr val="6B6B76"/>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171C"/>
        </a:solidFill>
        <a:effectLst/>
      </p:bgPr>
    </p:bg>
    <p:spTree>
      <p:nvGrpSpPr>
        <p:cNvPr id="1" name=""/>
        <p:cNvGrpSpPr/>
        <p:nvPr/>
      </p:nvGrpSpPr>
      <p:grpSpPr>
        <a:xfrm>
          <a:off x="0" y="0"/>
          <a:ext cx="0" cy="0"/>
          <a:chOff x="0" y="0"/>
          <a:chExt cx="0" cy="0"/>
        </a:xfrm>
      </p:grpSpPr>
      <p:sp>
        <p:nvSpPr>
          <p:cNvPr id="2" name="Text 2"/>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79"/>
              </a:lnSpc>
              <a:buNone/>
            </a:pPr>
            <a:r>
              <a:rPr lang="en-US" sz="1200" b="1" spc="100" dirty="0">
                <a:solidFill>
                  <a:srgbClr val="FF7A45"/>
                </a:solidFill>
                <a:latin typeface="DM Sans" pitchFamily="34" charset="0"/>
                <a:ea typeface="DM Sans" pitchFamily="34" charset="-122"/>
                <a:cs typeface="DM Sans" pitchFamily="34" charset="-120"/>
              </a:rPr>
              <a:t>CONCLUSION</a:t>
            </a:r>
            <a:endParaRPr lang="en-US" sz="1200" dirty="0"/>
          </a:p>
        </p:txBody>
      </p:sp>
      <p:sp>
        <p:nvSpPr>
          <p:cNvPr id="3" name="Text 3"/>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5F3EE"/>
                </a:solidFill>
                <a:latin typeface="DM Sans" pitchFamily="34" charset="0"/>
                <a:ea typeface="DM Sans" pitchFamily="34" charset="-122"/>
                <a:cs typeface="DM Sans" pitchFamily="34" charset="-120"/>
              </a:rPr>
              <a:t>Where the growth is</a:t>
            </a:r>
            <a:endParaRPr lang="en-US" sz="3600" dirty="0"/>
          </a:p>
        </p:txBody>
      </p:sp>
      <p:sp>
        <p:nvSpPr>
          <p:cNvPr id="4" name="Card 4"/>
          <p:cNvSpPr/>
          <p:nvPr/>
        </p:nvSpPr>
        <p:spPr>
          <a:xfrm>
            <a:off x="812800" y="1920240"/>
            <a:ext cx="3352800" cy="3017520"/>
          </a:xfrm>
          <a:prstGeom prst="roundRect">
            <a:avLst>
              <a:gd name="adj" fmla="val 4500"/>
            </a:avLst>
          </a:prstGeom>
          <a:solidFill>
            <a:srgbClr val="23232B"/>
          </a:solidFill>
          <a:ln w="6350">
            <a:solidFill>
              <a:srgbClr val="34343D"/>
            </a:solidFill>
            <a:prstDash val="solid"/>
          </a:ln>
        </p:spPr>
        <p:txBody>
          <a:bodyPr/>
          <a:lstStyle/>
          <a:p>
            <a:endParaRPr lang="en-US"/>
          </a:p>
        </p:txBody>
      </p:sp>
      <p:sp>
        <p:nvSpPr>
          <p:cNvPr id="5" name="Badge 5"/>
          <p:cNvSpPr/>
          <p:nvPr/>
        </p:nvSpPr>
        <p:spPr>
          <a:xfrm>
            <a:off x="1066800" y="2194560"/>
            <a:ext cx="457200" cy="457200"/>
          </a:xfrm>
          <a:prstGeom prst="ellipse">
            <a:avLst/>
          </a:prstGeom>
          <a:solidFill>
            <a:srgbClr val="FF7A45"/>
          </a:solidFill>
          <a:ln/>
        </p:spPr>
        <p:txBody>
          <a:bodyPr wrap="square" lIns="0" tIns="0" rIns="0" bIns="0" rtlCol="0" anchor="ctr">
            <a:normAutofit/>
          </a:bodyPr>
          <a:lstStyle/>
          <a:p>
            <a:pPr marL="0" indent="0" algn="ctr">
              <a:buNone/>
            </a:pPr>
            <a:r>
              <a:rPr lang="en-US" sz="1800" b="1" dirty="0">
                <a:solidFill>
                  <a:srgbClr val="17171C"/>
                </a:solidFill>
                <a:latin typeface="DM Sans" pitchFamily="34" charset="0"/>
                <a:ea typeface="DM Sans" pitchFamily="34" charset="-122"/>
                <a:cs typeface="DM Sans" pitchFamily="34" charset="-120"/>
              </a:rPr>
              <a:t>1</a:t>
            </a:r>
          </a:p>
        </p:txBody>
      </p:sp>
      <p:sp>
        <p:nvSpPr>
          <p:cNvPr id="6" name="Text 6"/>
          <p:cNvSpPr/>
          <p:nvPr/>
        </p:nvSpPr>
        <p:spPr>
          <a:xfrm>
            <a:off x="1066800" y="2834640"/>
            <a:ext cx="2844800" cy="3657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F5F3EE"/>
                </a:solidFill>
                <a:latin typeface="DM Sans" pitchFamily="34" charset="0"/>
                <a:ea typeface="DM Sans" pitchFamily="34" charset="-122"/>
                <a:cs typeface="DM Sans" pitchFamily="34" charset="-120"/>
              </a:rPr>
              <a:t>Grow subscriptions</a:t>
            </a:r>
            <a:endParaRPr lang="en-US" sz="1800" dirty="0"/>
          </a:p>
        </p:txBody>
      </p:sp>
      <p:sp>
        <p:nvSpPr>
          <p:cNvPr id="7" name="Text 7"/>
          <p:cNvSpPr/>
          <p:nvPr/>
        </p:nvSpPr>
        <p:spPr>
          <a:xfrm>
            <a:off x="1066800" y="3291840"/>
            <a:ext cx="2844800" cy="146304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B9B8C4"/>
                </a:solidFill>
                <a:latin typeface="DM Sans" pitchFamily="34" charset="0"/>
                <a:ea typeface="DM Sans" pitchFamily="34" charset="-122"/>
                <a:cs typeface="DM Sans" pitchFamily="34" charset="-120"/>
              </a:rPr>
              <a:t>Only 27% subscribe and spend no more. Give members a real benefit, starting with the 72% of repeat buyers who have not joined.</a:t>
            </a:r>
            <a:endParaRPr lang="en-US" sz="1400" dirty="0"/>
          </a:p>
        </p:txBody>
      </p:sp>
      <p:sp>
        <p:nvSpPr>
          <p:cNvPr id="8" name="Card 8"/>
          <p:cNvSpPr/>
          <p:nvPr/>
        </p:nvSpPr>
        <p:spPr>
          <a:xfrm>
            <a:off x="4419600" y="1920240"/>
            <a:ext cx="3352800" cy="3017520"/>
          </a:xfrm>
          <a:prstGeom prst="roundRect">
            <a:avLst>
              <a:gd name="adj" fmla="val 4500"/>
            </a:avLst>
          </a:prstGeom>
          <a:solidFill>
            <a:srgbClr val="23232B"/>
          </a:solidFill>
          <a:ln w="6350">
            <a:solidFill>
              <a:srgbClr val="34343D"/>
            </a:solidFill>
            <a:prstDash val="solid"/>
          </a:ln>
        </p:spPr>
        <p:txBody>
          <a:bodyPr/>
          <a:lstStyle/>
          <a:p>
            <a:endParaRPr lang="en-US"/>
          </a:p>
        </p:txBody>
      </p:sp>
      <p:sp>
        <p:nvSpPr>
          <p:cNvPr id="9" name="Badge 9"/>
          <p:cNvSpPr/>
          <p:nvPr/>
        </p:nvSpPr>
        <p:spPr>
          <a:xfrm>
            <a:off x="4673600" y="2194560"/>
            <a:ext cx="457200" cy="457200"/>
          </a:xfrm>
          <a:prstGeom prst="ellipse">
            <a:avLst/>
          </a:prstGeom>
          <a:solidFill>
            <a:srgbClr val="FF7A45"/>
          </a:solidFill>
          <a:ln/>
        </p:spPr>
        <p:txBody>
          <a:bodyPr wrap="square" lIns="0" tIns="0" rIns="0" bIns="0" rtlCol="0" anchor="ctr">
            <a:normAutofit/>
          </a:bodyPr>
          <a:lstStyle/>
          <a:p>
            <a:pPr marL="0" indent="0" algn="ctr">
              <a:buNone/>
            </a:pPr>
            <a:r>
              <a:rPr lang="en-US" sz="1800" b="1" dirty="0">
                <a:solidFill>
                  <a:srgbClr val="17171C"/>
                </a:solidFill>
                <a:latin typeface="DM Sans" pitchFamily="34" charset="0"/>
                <a:ea typeface="DM Sans" pitchFamily="34" charset="-122"/>
                <a:cs typeface="DM Sans" pitchFamily="34" charset="-120"/>
              </a:rPr>
              <a:t>2</a:t>
            </a:r>
          </a:p>
        </p:txBody>
      </p:sp>
      <p:sp>
        <p:nvSpPr>
          <p:cNvPr id="10" name="Text 10"/>
          <p:cNvSpPr/>
          <p:nvPr/>
        </p:nvSpPr>
        <p:spPr>
          <a:xfrm>
            <a:off x="4673600" y="2834640"/>
            <a:ext cx="2844800" cy="3657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F5F3EE"/>
                </a:solidFill>
                <a:latin typeface="DM Sans" pitchFamily="34" charset="0"/>
                <a:ea typeface="DM Sans" pitchFamily="34" charset="-122"/>
                <a:cs typeface="DM Sans" pitchFamily="34" charset="-120"/>
              </a:rPr>
              <a:t>Discount smartly</a:t>
            </a:r>
            <a:endParaRPr lang="en-US" sz="1800" dirty="0"/>
          </a:p>
        </p:txBody>
      </p:sp>
      <p:sp>
        <p:nvSpPr>
          <p:cNvPr id="11" name="Text 11"/>
          <p:cNvSpPr/>
          <p:nvPr/>
        </p:nvSpPr>
        <p:spPr>
          <a:xfrm>
            <a:off x="4673600" y="3291840"/>
            <a:ext cx="2844800" cy="146304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B9B8C4"/>
                </a:solidFill>
                <a:latin typeface="DM Sans" pitchFamily="34" charset="0"/>
                <a:ea typeface="DM Sans" pitchFamily="34" charset="-122"/>
                <a:cs typeface="DM Sans" pitchFamily="34" charset="-120"/>
              </a:rPr>
              <a:t>43% of purchases use a discount, with no link to buying habits. Aim them at occasional buyers and ease off on heavily discounted items.</a:t>
            </a:r>
            <a:endParaRPr lang="en-US" sz="1400" dirty="0"/>
          </a:p>
        </p:txBody>
      </p:sp>
      <p:sp>
        <p:nvSpPr>
          <p:cNvPr id="12" name="Card 12"/>
          <p:cNvSpPr/>
          <p:nvPr/>
        </p:nvSpPr>
        <p:spPr>
          <a:xfrm>
            <a:off x="8026400" y="1920240"/>
            <a:ext cx="3352800" cy="3017520"/>
          </a:xfrm>
          <a:prstGeom prst="roundRect">
            <a:avLst>
              <a:gd name="adj" fmla="val 4500"/>
            </a:avLst>
          </a:prstGeom>
          <a:solidFill>
            <a:srgbClr val="23232B"/>
          </a:solidFill>
          <a:ln w="6350">
            <a:solidFill>
              <a:srgbClr val="34343D"/>
            </a:solidFill>
            <a:prstDash val="solid"/>
          </a:ln>
        </p:spPr>
        <p:txBody>
          <a:bodyPr/>
          <a:lstStyle/>
          <a:p>
            <a:endParaRPr lang="en-US"/>
          </a:p>
        </p:txBody>
      </p:sp>
      <p:sp>
        <p:nvSpPr>
          <p:cNvPr id="13" name="Badge 13"/>
          <p:cNvSpPr/>
          <p:nvPr/>
        </p:nvSpPr>
        <p:spPr>
          <a:xfrm>
            <a:off x="8280400" y="2194560"/>
            <a:ext cx="457200" cy="457200"/>
          </a:xfrm>
          <a:prstGeom prst="ellipse">
            <a:avLst/>
          </a:prstGeom>
          <a:solidFill>
            <a:srgbClr val="FF7A45"/>
          </a:solidFill>
          <a:ln/>
        </p:spPr>
        <p:txBody>
          <a:bodyPr wrap="square" lIns="0" tIns="0" rIns="0" bIns="0" rtlCol="0" anchor="ctr">
            <a:normAutofit/>
          </a:bodyPr>
          <a:lstStyle/>
          <a:p>
            <a:pPr marL="0" indent="0" algn="ctr">
              <a:buNone/>
            </a:pPr>
            <a:r>
              <a:rPr lang="en-US" sz="1800" b="1" dirty="0">
                <a:solidFill>
                  <a:srgbClr val="17171C"/>
                </a:solidFill>
                <a:latin typeface="DM Sans" pitchFamily="34" charset="0"/>
                <a:ea typeface="DM Sans" pitchFamily="34" charset="-122"/>
                <a:cs typeface="DM Sans" pitchFamily="34" charset="-120"/>
              </a:rPr>
              <a:t>3</a:t>
            </a:r>
          </a:p>
        </p:txBody>
      </p:sp>
      <p:sp>
        <p:nvSpPr>
          <p:cNvPr id="14" name="Text 14"/>
          <p:cNvSpPr/>
          <p:nvPr/>
        </p:nvSpPr>
        <p:spPr>
          <a:xfrm>
            <a:off x="8280400" y="2834640"/>
            <a:ext cx="2844800" cy="3657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F5F3EE"/>
                </a:solidFill>
                <a:latin typeface="DM Sans" pitchFamily="34" charset="0"/>
                <a:ea typeface="DM Sans" pitchFamily="34" charset="-122"/>
                <a:cs typeface="DM Sans" pitchFamily="34" charset="-120"/>
              </a:rPr>
              <a:t>Widen the audience</a:t>
            </a:r>
            <a:endParaRPr lang="en-US" sz="1800" dirty="0"/>
          </a:p>
        </p:txBody>
      </p:sp>
      <p:sp>
        <p:nvSpPr>
          <p:cNvPr id="15" name="Text 15"/>
          <p:cNvSpPr/>
          <p:nvPr/>
        </p:nvSpPr>
        <p:spPr>
          <a:xfrm>
            <a:off x="8280400" y="3291840"/>
            <a:ext cx="2844800" cy="1463040"/>
          </a:xfrm>
          <a:prstGeom prst="rect">
            <a:avLst/>
          </a:prstGeom>
          <a:noFill/>
          <a:ln/>
        </p:spPr>
        <p:txBody>
          <a:bodyPr wrap="square" lIns="0" tIns="0" rIns="0" bIns="0" rtlCol="0" anchor="t">
            <a:normAutofit/>
          </a:bodyPr>
          <a:lstStyle/>
          <a:p>
            <a:pPr marL="0" indent="0" algn="l">
              <a:lnSpc>
                <a:spcPts val="1820"/>
              </a:lnSpc>
              <a:buNone/>
            </a:pPr>
            <a:r>
              <a:rPr lang="en-US" sz="1400" b="0" dirty="0">
                <a:solidFill>
                  <a:srgbClr val="B9B8C4"/>
                </a:solidFill>
                <a:latin typeface="DM Sans" pitchFamily="34" charset="0"/>
                <a:ea typeface="DM Sans" pitchFamily="34" charset="-122"/>
                <a:cs typeface="DM Sans" pitchFamily="34" charset="-120"/>
              </a:rPr>
              <a:t>Women bring 32% of revenue, the largest growth opportunity. Young Adults lead by age, but every group counts.</a:t>
            </a:r>
            <a:endParaRPr lang="en-US" sz="1400" dirty="0"/>
          </a:p>
        </p:txBody>
      </p:sp>
      <p:sp>
        <p:nvSpPr>
          <p:cNvPr id="16" name="Text 16"/>
          <p:cNvSpPr/>
          <p:nvPr/>
        </p:nvSpPr>
        <p:spPr>
          <a:xfrm>
            <a:off x="812800" y="5257800"/>
            <a:ext cx="10566400" cy="45720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F7A45"/>
                </a:solidFill>
                <a:latin typeface="DM Sans" pitchFamily="34" charset="0"/>
                <a:ea typeface="DM Sans" pitchFamily="34" charset="-122"/>
                <a:cs typeface="DM Sans" pitchFamily="34" charset="-120"/>
              </a:rPr>
              <a:t>Thank you. Questions?</a:t>
            </a:r>
            <a:endParaRPr lang="en-US" sz="2800" dirty="0"/>
          </a:p>
        </p:txBody>
      </p:sp>
      <p:sp>
        <p:nvSpPr>
          <p:cNvPr id="18" name="Text 18"/>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79"/>
              </a:lnSpc>
              <a:buNone/>
            </a:pPr>
            <a:r>
              <a:rPr lang="en-US" sz="1200" b="0" dirty="0">
                <a:solidFill>
                  <a:srgbClr val="8A8A96"/>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theme/theme1.xml><?xml version="1.0" encoding="utf-8"?>
<a:theme xmlns:a="http://schemas.openxmlformats.org/drawingml/2006/main" name="Customer Shopping Behavior Analysis">
  <a:themeElements>
    <a:clrScheme name="Customer Shopping Behavior Analysis">
      <a:dk1>
        <a:srgbClr val="17171C"/>
      </a:dk1>
      <a:lt1>
        <a:srgbClr val="F5F3EE"/>
      </a:lt1>
      <a:dk2>
        <a:srgbClr val="4F4E51"/>
      </a:dk2>
      <a:lt2>
        <a:srgbClr val="DFDDD9"/>
      </a:lt2>
      <a:accent1>
        <a:srgbClr val="5B4BFF"/>
      </a:accent1>
      <a:accent2>
        <a:srgbClr val="A9A2F5"/>
      </a:accent2>
      <a:accent3>
        <a:srgbClr val="FF7A45"/>
      </a:accent3>
      <a:accent4>
        <a:srgbClr val="C8501C"/>
      </a:accent4>
      <a:accent5>
        <a:srgbClr val="55555F"/>
      </a:accent5>
      <a:accent6>
        <a:srgbClr val="6B6B76"/>
      </a:accent6>
      <a:hlink>
        <a:srgbClr val="0563C1"/>
      </a:hlink>
      <a:folHlink>
        <a:srgbClr val="954F72"/>
      </a:folHlink>
    </a:clrScheme>
    <a:fontScheme name="Customer Shopping Behavior Analysi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1727</Words>
  <Application>Microsoft Office PowerPoint</Application>
  <PresentationFormat>Widescreen</PresentationFormat>
  <Paragraphs>260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DM Sans</vt:lpstr>
      <vt:lpstr>Customer Shopping Behavior Analysis</vt:lpstr>
      <vt:lpstr>Customer Shopping Behavior Analysis</vt:lpstr>
      <vt:lpstr>The data at a glance</vt:lpstr>
      <vt:lpstr>From raw data to SQL answers</vt:lpstr>
      <vt:lpstr>Men generate twice the revenue</vt:lpstr>
      <vt:lpstr>Young Adults lead revenue</vt:lpstr>
      <vt:lpstr>Payment mix is closely matched</vt:lpstr>
      <vt:lpstr>Subscribers spend the same</vt:lpstr>
      <vt:lpstr>Most repeat buyers aren’t subscribed</vt:lpstr>
      <vt:lpstr>Hats rely most on discounts</vt:lpstr>
      <vt:lpstr>Discounts are spread evenly</vt:lpstr>
      <vt:lpstr>Top-rated products are closely matched</vt:lpstr>
      <vt:lpstr>Subscriptions and discounts</vt:lpstr>
      <vt:lpstr>Reach the right customers</vt:lpstr>
      <vt:lpstr>Where the growth 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Shopping Behavior Analysis</dc:title>
  <dc:subject/>
  <dc:creator/>
  <cp:lastModifiedBy>Mohamed Saad</cp:lastModifiedBy>
  <cp:revision>2</cp:revision>
  <dcterms:created xsi:type="dcterms:W3CDTF">2026-10-19T16:33:56Z</dcterms:created>
  <dcterms:modified xsi:type="dcterms:W3CDTF">2026-10-19T17:05:59Z</dcterms:modified>
</cp:coreProperties>
</file>